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67" r:id="rId1"/>
  </p:sldMasterIdLst>
  <p:notesMasterIdLst>
    <p:notesMasterId r:id="rId20"/>
  </p:notesMasterIdLst>
  <p:sldIdLst>
    <p:sldId id="663" r:id="rId2"/>
    <p:sldId id="665" r:id="rId3"/>
    <p:sldId id="666" r:id="rId4"/>
    <p:sldId id="708" r:id="rId5"/>
    <p:sldId id="710" r:id="rId6"/>
    <p:sldId id="711" r:id="rId7"/>
    <p:sldId id="713" r:id="rId8"/>
    <p:sldId id="714" r:id="rId9"/>
    <p:sldId id="716" r:id="rId10"/>
    <p:sldId id="717" r:id="rId11"/>
    <p:sldId id="719" r:id="rId12"/>
    <p:sldId id="720" r:id="rId13"/>
    <p:sldId id="721" r:id="rId14"/>
    <p:sldId id="728" r:id="rId15"/>
    <p:sldId id="722" r:id="rId16"/>
    <p:sldId id="724" r:id="rId17"/>
    <p:sldId id="725" r:id="rId18"/>
    <p:sldId id="727" r:id="rId19"/>
  </p:sldIdLst>
  <p:sldSz cx="24377650" cy="13716000"/>
  <p:notesSz cx="6858000" cy="9144000"/>
  <p:defaultTextStyle>
    <a:defPPr>
      <a:defRPr lang="en-US"/>
    </a:defPPr>
    <a:lvl1pPr marL="0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217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434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2651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6868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1086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5303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399520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3737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12" userDrawn="1">
          <p15:clr>
            <a:srgbClr val="A4A3A4"/>
          </p15:clr>
        </p15:guide>
        <p15:guide id="2" pos="14830" userDrawn="1">
          <p15:clr>
            <a:srgbClr val="A4A3A4"/>
          </p15:clr>
        </p15:guide>
        <p15:guide id="3" pos="526" userDrawn="1">
          <p15:clr>
            <a:srgbClr val="A4A3A4"/>
          </p15:clr>
        </p15:guide>
        <p15:guide id="5" orient="horz" pos="528" userDrawn="1">
          <p15:clr>
            <a:srgbClr val="A4A3A4"/>
          </p15:clr>
        </p15:guide>
        <p15:guide id="41" pos="7678" userDrawn="1">
          <p15:clr>
            <a:srgbClr val="A4A3A4"/>
          </p15:clr>
        </p15:guide>
        <p15:guide id="46" orient="horz" pos="434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clrMru>
    <a:srgbClr val="54AEC9"/>
    <a:srgbClr val="06919A"/>
    <a:srgbClr val="242C35"/>
    <a:srgbClr val="B8B8B8"/>
    <a:srgbClr val="566A86"/>
    <a:srgbClr val="525252"/>
    <a:srgbClr val="0E80C9"/>
    <a:srgbClr val="414E5E"/>
    <a:srgbClr val="384558"/>
    <a:srgbClr val="F1CB1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73" autoAdjust="0"/>
    <p:restoredTop sz="95958" autoAdjust="0"/>
  </p:normalViewPr>
  <p:slideViewPr>
    <p:cSldViewPr snapToGrid="0" snapToObjects="1">
      <p:cViewPr varScale="1">
        <p:scale>
          <a:sx n="41" d="100"/>
          <a:sy n="41" d="100"/>
        </p:scale>
        <p:origin x="624" y="34"/>
      </p:cViewPr>
      <p:guideLst>
        <p:guide orient="horz" pos="8112"/>
        <p:guide pos="14830"/>
        <p:guide pos="526"/>
        <p:guide orient="horz" pos="528"/>
        <p:guide pos="7678"/>
        <p:guide orient="horz" pos="4344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4" d="100"/>
        <a:sy n="24" d="100"/>
      </p:scale>
      <p:origin x="0" y="0"/>
    </p:cViewPr>
  </p:sorterViewPr>
  <p:notesViewPr>
    <p:cSldViewPr snapToGrid="0" snapToObjects="1" showGuides="1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Lato Regular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Lato Regular" charset="0"/>
              </a:defRPr>
            </a:lvl1pPr>
          </a:lstStyle>
          <a:p>
            <a:fld id="{EFC10EE1-B198-C942-8235-326C972CBB30}" type="datetimeFigureOut">
              <a:rPr lang="en-US" smtClean="0"/>
              <a:pPr/>
              <a:t>9/21/2025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Lato Regular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Lato Regular" charset="0"/>
              </a:defRPr>
            </a:lvl1pPr>
          </a:lstStyle>
          <a:p>
            <a:fld id="{006BE02D-20C0-F840-AFAC-BEA99C74FDC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32891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217" rtl="0" eaLnBrk="1" latinLnBrk="0" hangingPunct="1">
      <a:defRPr sz="2400" b="0" i="0" kern="1200">
        <a:solidFill>
          <a:schemeClr val="tx1"/>
        </a:solidFill>
        <a:latin typeface="Lato Regular" charset="0"/>
        <a:ea typeface="+mn-ea"/>
        <a:cs typeface="+mn-cs"/>
      </a:defRPr>
    </a:lvl1pPr>
    <a:lvl2pPr marL="914217" algn="l" defTabSz="914217" rtl="0" eaLnBrk="1" latinLnBrk="0" hangingPunct="1">
      <a:defRPr sz="2400" b="0" i="0" kern="1200">
        <a:solidFill>
          <a:schemeClr val="tx1"/>
        </a:solidFill>
        <a:latin typeface="Lato Regular" charset="0"/>
        <a:ea typeface="+mn-ea"/>
        <a:cs typeface="+mn-cs"/>
      </a:defRPr>
    </a:lvl2pPr>
    <a:lvl3pPr marL="1828434" algn="l" defTabSz="914217" rtl="0" eaLnBrk="1" latinLnBrk="0" hangingPunct="1">
      <a:defRPr sz="2400" b="0" i="0" kern="1200">
        <a:solidFill>
          <a:schemeClr val="tx1"/>
        </a:solidFill>
        <a:latin typeface="Lato Regular" charset="0"/>
        <a:ea typeface="+mn-ea"/>
        <a:cs typeface="+mn-cs"/>
      </a:defRPr>
    </a:lvl3pPr>
    <a:lvl4pPr marL="2742651" algn="l" defTabSz="914217" rtl="0" eaLnBrk="1" latinLnBrk="0" hangingPunct="1">
      <a:defRPr sz="2400" b="0" i="0" kern="1200">
        <a:solidFill>
          <a:schemeClr val="tx1"/>
        </a:solidFill>
        <a:latin typeface="Lato Regular" charset="0"/>
        <a:ea typeface="+mn-ea"/>
        <a:cs typeface="+mn-cs"/>
      </a:defRPr>
    </a:lvl4pPr>
    <a:lvl5pPr marL="3656868" algn="l" defTabSz="914217" rtl="0" eaLnBrk="1" latinLnBrk="0" hangingPunct="1">
      <a:defRPr sz="2400" b="0" i="0" kern="1200">
        <a:solidFill>
          <a:schemeClr val="tx1"/>
        </a:solidFill>
        <a:latin typeface="Lato Regular" charset="0"/>
        <a:ea typeface="+mn-ea"/>
        <a:cs typeface="+mn-cs"/>
      </a:defRPr>
    </a:lvl5pPr>
    <a:lvl6pPr marL="4571086" algn="l" defTabSz="91421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5303" algn="l" defTabSz="91421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399520" algn="l" defTabSz="91421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3737" algn="l" defTabSz="91421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D8A9B0-80EF-A34D-B345-E2DEC5501E0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562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D8A9B0-80EF-A34D-B345-E2DEC5501E0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7025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D8A9B0-80EF-A34D-B345-E2DEC5501E0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908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D8A9B0-80EF-A34D-B345-E2DEC5501E0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6516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D8A9B0-80EF-A34D-B345-E2DEC5501E0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3432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D8A9B0-80EF-A34D-B345-E2DEC5501E0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3528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D8A9B0-80EF-A34D-B345-E2DEC5501E0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1152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D8A9B0-80EF-A34D-B345-E2DEC5501E0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6428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D8A9B0-80EF-A34D-B345-E2DEC5501E0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0817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D8A9B0-80EF-A34D-B345-E2DEC5501E0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6456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D8A9B0-80EF-A34D-B345-E2DEC5501E0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3672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D8A9B0-80EF-A34D-B345-E2DEC5501E0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78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D8A9B0-80EF-A34D-B345-E2DEC5501E0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8037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D8A9B0-80EF-A34D-B345-E2DEC5501E0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77536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D8A9B0-80EF-A34D-B345-E2DEC5501E0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6258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D8A9B0-80EF-A34D-B345-E2DEC5501E01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65299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D8A9B0-80EF-A34D-B345-E2DEC5501E01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05543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D8A9B0-80EF-A34D-B345-E2DEC5501E01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0909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74341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esig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8">
            <a:extLst>
              <a:ext uri="{FF2B5EF4-FFF2-40B4-BE49-F238E27FC236}">
                <a16:creationId xmlns:a16="http://schemas.microsoft.com/office/drawing/2014/main" id="{0EDAED6E-610D-5645-8A57-BA28B9D7E4A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6489680" y="4410624"/>
            <a:ext cx="4894752" cy="4894752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2392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esig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8">
            <a:extLst>
              <a:ext uri="{FF2B5EF4-FFF2-40B4-BE49-F238E27FC236}">
                <a16:creationId xmlns:a16="http://schemas.microsoft.com/office/drawing/2014/main" id="{2A88E306-7D1B-D342-9103-C31A6C91AC9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4521200"/>
            <a:ext cx="24377650" cy="9194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7170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esig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8">
            <a:extLst>
              <a:ext uri="{FF2B5EF4-FFF2-40B4-BE49-F238E27FC236}">
                <a16:creationId xmlns:a16="http://schemas.microsoft.com/office/drawing/2014/main" id="{2A88E306-7D1B-D342-9103-C31A6C91AC9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24377650" cy="1371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655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esig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8">
            <a:extLst>
              <a:ext uri="{FF2B5EF4-FFF2-40B4-BE49-F238E27FC236}">
                <a16:creationId xmlns:a16="http://schemas.microsoft.com/office/drawing/2014/main" id="{2A88E306-7D1B-D342-9103-C31A6C91AC9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6473320" y="2856135"/>
            <a:ext cx="4457386" cy="790078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814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esig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8">
            <a:extLst>
              <a:ext uri="{FF2B5EF4-FFF2-40B4-BE49-F238E27FC236}">
                <a16:creationId xmlns:a16="http://schemas.microsoft.com/office/drawing/2014/main" id="{2A88E306-7D1B-D342-9103-C31A6C91AC9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5836874" y="2658386"/>
            <a:ext cx="6323152" cy="839473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0480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Desig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8">
            <a:extLst>
              <a:ext uri="{FF2B5EF4-FFF2-40B4-BE49-F238E27FC236}">
                <a16:creationId xmlns:a16="http://schemas.microsoft.com/office/drawing/2014/main" id="{2A88E306-7D1B-D342-9103-C31A6C91AC9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-4930298" y="2915133"/>
            <a:ext cx="12203676" cy="767599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533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5964" y="730251"/>
            <a:ext cx="21025723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5964" y="3651250"/>
            <a:ext cx="21025723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75964" y="12712701"/>
            <a:ext cx="5484971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3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C21A69-CE6F-2440-BAE4-5A4B3040CF2A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75097" y="12712701"/>
            <a:ext cx="8227457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3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16715" y="12712701"/>
            <a:ext cx="5484971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3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E3AD81-3AD4-9C46-856E-C08CF1183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189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74" r:id="rId1"/>
    <p:sldLayoutId id="2147484100" r:id="rId2"/>
    <p:sldLayoutId id="2147484101" r:id="rId3"/>
    <p:sldLayoutId id="2147484102" r:id="rId4"/>
    <p:sldLayoutId id="2147484103" r:id="rId5"/>
    <p:sldLayoutId id="2147484104" r:id="rId6"/>
    <p:sldLayoutId id="2147484105" r:id="rId7"/>
  </p:sldLayoutIdLst>
  <p:hf hdr="0" ftr="0" dt="0"/>
  <p:txStyles>
    <p:titleStyle>
      <a:lvl1pPr algn="l" defTabSz="1828343" rtl="0" eaLnBrk="1" latinLnBrk="0" hangingPunct="1">
        <a:lnSpc>
          <a:spcPct val="90000"/>
        </a:lnSpc>
        <a:spcBef>
          <a:spcPct val="0"/>
        </a:spcBef>
        <a:buNone/>
        <a:defRPr sz="6000" b="0" i="0" kern="1200">
          <a:solidFill>
            <a:schemeClr val="tx1"/>
          </a:solidFill>
          <a:latin typeface="Lato Regular" charset="0"/>
          <a:ea typeface="Lato Regular" charset="0"/>
          <a:cs typeface="Lato Regular" charset="0"/>
        </a:defRPr>
      </a:lvl1pPr>
    </p:titleStyle>
    <p:bodyStyle>
      <a:lvl1pPr marL="0" indent="0" algn="l" defTabSz="1828343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None/>
        <a:defRPr sz="4000" b="0" i="0" kern="1200">
          <a:solidFill>
            <a:schemeClr val="tx1"/>
          </a:solidFill>
          <a:latin typeface="Lato Regular" charset="0"/>
          <a:ea typeface="Lato Regular" charset="0"/>
          <a:cs typeface="Lato Regular" charset="0"/>
        </a:defRPr>
      </a:lvl1pPr>
      <a:lvl2pPr marL="914171" indent="0" algn="l" defTabSz="182834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3200" b="0" i="0" kern="1200">
          <a:solidFill>
            <a:schemeClr val="tx1"/>
          </a:solidFill>
          <a:latin typeface="Lato Regular" charset="0"/>
          <a:ea typeface="Lato Regular" charset="0"/>
          <a:cs typeface="Lato Regular" charset="0"/>
        </a:defRPr>
      </a:lvl2pPr>
      <a:lvl3pPr marL="1828343" indent="0" algn="l" defTabSz="182834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400" b="0" i="0" kern="1200">
          <a:solidFill>
            <a:schemeClr val="tx1"/>
          </a:solidFill>
          <a:latin typeface="Lato Regular" charset="0"/>
          <a:ea typeface="Lato Regular" charset="0"/>
          <a:cs typeface="Lato Regular" charset="0"/>
        </a:defRPr>
      </a:lvl3pPr>
      <a:lvl4pPr marL="2742514" indent="0" algn="l" defTabSz="182834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000" b="0" i="0" kern="1200">
          <a:solidFill>
            <a:schemeClr val="tx1"/>
          </a:solidFill>
          <a:latin typeface="Lato Regular" charset="0"/>
          <a:ea typeface="Lato Regular" charset="0"/>
          <a:cs typeface="Lato Regular" charset="0"/>
        </a:defRPr>
      </a:lvl4pPr>
      <a:lvl5pPr marL="3656685" indent="0" algn="l" defTabSz="182834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000" b="0" i="0" kern="1200">
          <a:solidFill>
            <a:schemeClr val="tx1"/>
          </a:solidFill>
          <a:latin typeface="Lato Regular" charset="0"/>
          <a:ea typeface="Lato Regular" charset="0"/>
          <a:cs typeface="Lato Regular" charset="0"/>
        </a:defRPr>
      </a:lvl5pPr>
      <a:lvl6pPr marL="5027943" indent="-457086" algn="l" defTabSz="182834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599" kern="1200">
          <a:solidFill>
            <a:schemeClr val="tx1"/>
          </a:solidFill>
          <a:latin typeface="+mn-lt"/>
          <a:ea typeface="+mn-ea"/>
          <a:cs typeface="+mn-cs"/>
        </a:defRPr>
      </a:lvl6pPr>
      <a:lvl7pPr marL="5942114" indent="-457086" algn="l" defTabSz="182834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599" kern="1200">
          <a:solidFill>
            <a:schemeClr val="tx1"/>
          </a:solidFill>
          <a:latin typeface="+mn-lt"/>
          <a:ea typeface="+mn-ea"/>
          <a:cs typeface="+mn-cs"/>
        </a:defRPr>
      </a:lvl7pPr>
      <a:lvl8pPr marL="6856286" indent="-457086" algn="l" defTabSz="182834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599" kern="1200">
          <a:solidFill>
            <a:schemeClr val="tx1"/>
          </a:solidFill>
          <a:latin typeface="+mn-lt"/>
          <a:ea typeface="+mn-ea"/>
          <a:cs typeface="+mn-cs"/>
        </a:defRPr>
      </a:lvl8pPr>
      <a:lvl9pPr marL="7770457" indent="-457086" algn="l" defTabSz="182834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5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1pPr>
      <a:lvl2pPr marL="914171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2pPr>
      <a:lvl3pPr marL="1828343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3pPr>
      <a:lvl4pPr marL="2742514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4pPr>
      <a:lvl5pPr marL="3656686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5pPr>
      <a:lvl6pPr marL="4570857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6pPr>
      <a:lvl7pPr marL="5485028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7pPr>
      <a:lvl8pPr marL="6399200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8pPr>
      <a:lvl9pPr marL="7313371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9764464-EE39-1949-9DB8-7E3F02D46EA9}"/>
              </a:ext>
            </a:extLst>
          </p:cNvPr>
          <p:cNvSpPr/>
          <p:nvPr/>
        </p:nvSpPr>
        <p:spPr>
          <a:xfrm>
            <a:off x="0" y="0"/>
            <a:ext cx="24377650" cy="1371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5C04725-F105-9A4A-998F-6081D645445D}"/>
              </a:ext>
            </a:extLst>
          </p:cNvPr>
          <p:cNvGrpSpPr/>
          <p:nvPr/>
        </p:nvGrpSpPr>
        <p:grpSpPr>
          <a:xfrm>
            <a:off x="6162785" y="1770900"/>
            <a:ext cx="12052080" cy="5288011"/>
            <a:chOff x="6162785" y="4693920"/>
            <a:chExt cx="12052080" cy="5288011"/>
          </a:xfrm>
        </p:grpSpPr>
        <p:sp>
          <p:nvSpPr>
            <p:cNvPr id="21" name="TextBox 20"/>
            <p:cNvSpPr txBox="1"/>
            <p:nvPr/>
          </p:nvSpPr>
          <p:spPr>
            <a:xfrm>
              <a:off x="6162785" y="5272950"/>
              <a:ext cx="12052080" cy="47089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0" dirty="0" err="1">
                  <a:solidFill>
                    <a:schemeClr val="bg1"/>
                  </a:solidFill>
                  <a:latin typeface="Aptos" panose="020B0004020202020204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Fundamentos</a:t>
              </a:r>
              <a:r>
                <a:rPr lang="en-US" sz="10000" dirty="0">
                  <a:solidFill>
                    <a:schemeClr val="bg1"/>
                  </a:solidFill>
                  <a:latin typeface="Aptos" panose="020B0004020202020204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 de Redes de </a:t>
              </a:r>
              <a:r>
                <a:rPr lang="en-US" sz="10000" dirty="0" err="1">
                  <a:solidFill>
                    <a:schemeClr val="bg1"/>
                  </a:solidFill>
                  <a:latin typeface="Aptos" panose="020B0004020202020204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Comunicação</a:t>
              </a:r>
              <a:endParaRPr lang="en-US" sz="10000" dirty="0">
                <a:solidFill>
                  <a:schemeClr val="bg1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A131343-E948-4143-B9FA-C3EA73EB3106}"/>
                </a:ext>
              </a:extLst>
            </p:cNvPr>
            <p:cNvSpPr/>
            <p:nvPr/>
          </p:nvSpPr>
          <p:spPr>
            <a:xfrm>
              <a:off x="10460609" y="4693920"/>
              <a:ext cx="3456432" cy="10059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aixaDeTexto 2">
            <a:extLst>
              <a:ext uri="{FF2B5EF4-FFF2-40B4-BE49-F238E27FC236}">
                <a16:creationId xmlns:a16="http://schemas.microsoft.com/office/drawing/2014/main" id="{87914426-E77F-6F90-BC3F-5E7658F64205}"/>
              </a:ext>
            </a:extLst>
          </p:cNvPr>
          <p:cNvSpPr txBox="1"/>
          <p:nvPr/>
        </p:nvSpPr>
        <p:spPr>
          <a:xfrm>
            <a:off x="5101389" y="8157411"/>
            <a:ext cx="143897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dirty="0">
                <a:solidFill>
                  <a:schemeClr val="bg1"/>
                </a:solidFill>
                <a:latin typeface="Aptos Black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Técnico Superior Profissional em Redes e Sistemas Informáticos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E7A8FB6-AFC4-4824-A9E2-D01B597A69DA}"/>
              </a:ext>
            </a:extLst>
          </p:cNvPr>
          <p:cNvSpPr txBox="1"/>
          <p:nvPr/>
        </p:nvSpPr>
        <p:spPr>
          <a:xfrm>
            <a:off x="5101389" y="9651094"/>
            <a:ext cx="143897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b="1" dirty="0">
                <a:solidFill>
                  <a:schemeClr val="bg1"/>
                </a:solidFill>
                <a:latin typeface="Aptos Black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Escola Superior de Tecnologia e Gestão de Águeda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393A1D0-D944-8E9C-A2B5-9E5B7CEC14CF}"/>
              </a:ext>
            </a:extLst>
          </p:cNvPr>
          <p:cNvSpPr txBox="1"/>
          <p:nvPr/>
        </p:nvSpPr>
        <p:spPr>
          <a:xfrm>
            <a:off x="5101389" y="11037216"/>
            <a:ext cx="143897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b="1" dirty="0">
                <a:solidFill>
                  <a:schemeClr val="bg1"/>
                </a:solidFill>
                <a:latin typeface="Aptos Black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Professor: </a:t>
            </a:r>
            <a:r>
              <a:rPr lang="pt-PT" dirty="0">
                <a:solidFill>
                  <a:schemeClr val="bg1"/>
                </a:solidFill>
                <a:latin typeface="Aptos Black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António Godinho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6316491-31A3-F05D-F4B1-34ABA66E077F}"/>
              </a:ext>
            </a:extLst>
          </p:cNvPr>
          <p:cNvSpPr txBox="1"/>
          <p:nvPr/>
        </p:nvSpPr>
        <p:spPr>
          <a:xfrm>
            <a:off x="5374105" y="12423338"/>
            <a:ext cx="143897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b="1" dirty="0">
                <a:solidFill>
                  <a:schemeClr val="bg1"/>
                </a:solidFill>
                <a:latin typeface="Aptos Black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2025/2026</a:t>
            </a:r>
          </a:p>
        </p:txBody>
      </p:sp>
    </p:spTree>
    <p:extLst>
      <p:ext uri="{BB962C8B-B14F-4D97-AF65-F5344CB8AC3E}">
        <p14:creationId xmlns:p14="http://schemas.microsoft.com/office/powerpoint/2010/main" val="8022406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8EC14EF-FB5B-C047-9A89-BE3C950B335F}"/>
              </a:ext>
            </a:extLst>
          </p:cNvPr>
          <p:cNvSpPr/>
          <p:nvPr/>
        </p:nvSpPr>
        <p:spPr>
          <a:xfrm>
            <a:off x="24174450" y="0"/>
            <a:ext cx="203200" cy="1371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1812517" y="5728818"/>
            <a:ext cx="78096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RESULTADOS DE APRENDIZAGEM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09360" y="1428345"/>
            <a:ext cx="944398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SUMÁRIO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2EBF0E4-CB35-CE49-89C5-3CB6F35F9258}"/>
              </a:ext>
            </a:extLst>
          </p:cNvPr>
          <p:cNvSpPr txBox="1"/>
          <p:nvPr/>
        </p:nvSpPr>
        <p:spPr>
          <a:xfrm>
            <a:off x="1785153" y="4759322"/>
            <a:ext cx="35147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OBJETIVOS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9521D07-DED4-954B-8DBF-E64665DC4EB1}"/>
              </a:ext>
            </a:extLst>
          </p:cNvPr>
          <p:cNvSpPr txBox="1"/>
          <p:nvPr/>
        </p:nvSpPr>
        <p:spPr>
          <a:xfrm>
            <a:off x="1812517" y="6698314"/>
            <a:ext cx="41520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METODOLOGIA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6671198-82EF-AE47-AE49-5778A07C69B8}"/>
              </a:ext>
            </a:extLst>
          </p:cNvPr>
          <p:cNvSpPr txBox="1"/>
          <p:nvPr/>
        </p:nvSpPr>
        <p:spPr>
          <a:xfrm>
            <a:off x="1812517" y="8633137"/>
            <a:ext cx="35147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AVALIAÇÃO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AB21A0D-ABA9-D343-8A60-1E36D4963F22}"/>
              </a:ext>
            </a:extLst>
          </p:cNvPr>
          <p:cNvSpPr txBox="1"/>
          <p:nvPr/>
        </p:nvSpPr>
        <p:spPr>
          <a:xfrm>
            <a:off x="1785152" y="7667810"/>
            <a:ext cx="72562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CONTEÚDOS PROGRAMÁTICOS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4E0B3EF-A515-7344-8812-32C84DE98EF2}"/>
              </a:ext>
            </a:extLst>
          </p:cNvPr>
          <p:cNvSpPr txBox="1"/>
          <p:nvPr/>
        </p:nvSpPr>
        <p:spPr>
          <a:xfrm>
            <a:off x="1785152" y="9598464"/>
            <a:ext cx="68952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BIBLIOGRAFIA RECOMENDADA</a:t>
            </a:r>
          </a:p>
        </p:txBody>
      </p:sp>
      <p:sp>
        <p:nvSpPr>
          <p:cNvPr id="2" name="TextBox 20">
            <a:extLst>
              <a:ext uri="{FF2B5EF4-FFF2-40B4-BE49-F238E27FC236}">
                <a16:creationId xmlns:a16="http://schemas.microsoft.com/office/drawing/2014/main" id="{921B2AE3-B2AA-C9C3-79CF-D14074318D60}"/>
              </a:ext>
            </a:extLst>
          </p:cNvPr>
          <p:cNvSpPr txBox="1"/>
          <p:nvPr/>
        </p:nvSpPr>
        <p:spPr>
          <a:xfrm>
            <a:off x="1785153" y="3798164"/>
            <a:ext cx="68952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HORÁRIO DE ATENDIMENTO</a:t>
            </a:r>
          </a:p>
        </p:txBody>
      </p:sp>
      <p:sp>
        <p:nvSpPr>
          <p:cNvPr id="3" name="TextBox 20">
            <a:extLst>
              <a:ext uri="{FF2B5EF4-FFF2-40B4-BE49-F238E27FC236}">
                <a16:creationId xmlns:a16="http://schemas.microsoft.com/office/drawing/2014/main" id="{5E79B7B2-59CB-9285-F205-0E5EDDD64B5F}"/>
              </a:ext>
            </a:extLst>
          </p:cNvPr>
          <p:cNvSpPr txBox="1"/>
          <p:nvPr/>
        </p:nvSpPr>
        <p:spPr>
          <a:xfrm>
            <a:off x="1785152" y="2837006"/>
            <a:ext cx="68952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HORÁRIO DAS AULAS</a:t>
            </a:r>
          </a:p>
        </p:txBody>
      </p:sp>
    </p:spTree>
    <p:extLst>
      <p:ext uri="{BB962C8B-B14F-4D97-AF65-F5344CB8AC3E}">
        <p14:creationId xmlns:p14="http://schemas.microsoft.com/office/powerpoint/2010/main" val="7434766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499700F-0718-FD4B-B0EA-11CDBD7EB981}"/>
              </a:ext>
            </a:extLst>
          </p:cNvPr>
          <p:cNvSpPr/>
          <p:nvPr/>
        </p:nvSpPr>
        <p:spPr>
          <a:xfrm>
            <a:off x="0" y="0"/>
            <a:ext cx="24377650" cy="13716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98EEEC9-AB86-DA41-926C-10EEBBB2ED0B}"/>
              </a:ext>
            </a:extLst>
          </p:cNvPr>
          <p:cNvGrpSpPr/>
          <p:nvPr/>
        </p:nvGrpSpPr>
        <p:grpSpPr>
          <a:xfrm>
            <a:off x="1353305" y="179192"/>
            <a:ext cx="20898603" cy="13750519"/>
            <a:chOff x="15257243" y="6685337"/>
            <a:chExt cx="17068192" cy="6774246"/>
          </a:xfrm>
        </p:grpSpPr>
        <p:sp>
          <p:nvSpPr>
            <p:cNvPr id="22" name="TextBox 21"/>
            <p:cNvSpPr txBox="1"/>
            <p:nvPr/>
          </p:nvSpPr>
          <p:spPr>
            <a:xfrm>
              <a:off x="15325345" y="6685337"/>
              <a:ext cx="11751055" cy="5003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0" dirty="0">
                  <a:solidFill>
                    <a:schemeClr val="bg1"/>
                  </a:solidFill>
                  <a:latin typeface="Aptos" panose="020B0004020202020204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PROFESSOR António Godinho</a:t>
              </a:r>
            </a:p>
          </p:txBody>
        </p:sp>
        <p:sp>
          <p:nvSpPr>
            <p:cNvPr id="27" name="Subtitle 2"/>
            <p:cNvSpPr txBox="1">
              <a:spLocks/>
            </p:cNvSpPr>
            <p:nvPr/>
          </p:nvSpPr>
          <p:spPr>
            <a:xfrm>
              <a:off x="15257243" y="7279911"/>
              <a:ext cx="17068192" cy="6179672"/>
            </a:xfrm>
            <a:prstGeom prst="rect">
              <a:avLst/>
            </a:prstGeom>
          </p:spPr>
          <p:txBody>
            <a:bodyPr vert="horz" wrap="square" lIns="217433" tIns="108718" rIns="217433" bIns="108718" rtlCol="0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ts val="4299"/>
                </a:lnSpc>
              </a:pPr>
              <a:r>
                <a:rPr lang="pt-BR" sz="3200" dirty="0">
                  <a:solidFill>
                    <a:schemeClr val="bg1"/>
                  </a:solidFill>
                  <a:latin typeface="Aptos" panose="020B0004020202020204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Mestrado em Comércio Eletrónico</a:t>
              </a:r>
            </a:p>
            <a:p>
              <a:pPr algn="l">
                <a:lnSpc>
                  <a:spcPts val="4299"/>
                </a:lnSpc>
              </a:pPr>
              <a:r>
                <a:rPr lang="pt-BR" sz="3200" dirty="0">
                  <a:solidFill>
                    <a:schemeClr val="bg1"/>
                  </a:solidFill>
                  <a:latin typeface="Aptos" panose="020B0004020202020204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Licenciado em Engª Informática e Engª Civil</a:t>
              </a:r>
            </a:p>
            <a:p>
              <a:pPr algn="l">
                <a:lnSpc>
                  <a:spcPts val="4299"/>
                </a:lnSpc>
              </a:pPr>
              <a:endParaRPr lang="pt-BR" sz="2800" dirty="0">
                <a:solidFill>
                  <a:schemeClr val="bg1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endParaRPr>
            </a:p>
            <a:p>
              <a:pPr marL="457200" indent="-457200" algn="l">
                <a:lnSpc>
                  <a:spcPts val="4299"/>
                </a:lnSpc>
                <a:buFont typeface="Arial" panose="020B0604020202020204" pitchFamily="34" charset="0"/>
                <a:buChar char="•"/>
              </a:pPr>
              <a:r>
                <a:rPr lang="pt-BR" sz="4000" dirty="0">
                  <a:solidFill>
                    <a:schemeClr val="bg1"/>
                  </a:solidFill>
                  <a:latin typeface="Aptos" panose="020B0004020202020204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Administrador de sistemas</a:t>
              </a:r>
            </a:p>
            <a:p>
              <a:pPr marL="1544836" lvl="1" indent="-457200" algn="l">
                <a:lnSpc>
                  <a:spcPts val="4299"/>
                </a:lnSpc>
                <a:buFont typeface="Arial" panose="020B0604020202020204" pitchFamily="34" charset="0"/>
                <a:buChar char="•"/>
              </a:pPr>
              <a:r>
                <a:rPr lang="pt-BR" dirty="0">
                  <a:solidFill>
                    <a:schemeClr val="bg1"/>
                  </a:solidFill>
                  <a:latin typeface="Aptos" panose="020B0004020202020204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Instituto Superior de Engenharia de Coimbra - Serviço de Informática, 2001-2023 </a:t>
              </a:r>
            </a:p>
            <a:p>
              <a:pPr marL="2632471" lvl="2" indent="-457200" algn="l">
                <a:lnSpc>
                  <a:spcPts val="4299"/>
                </a:lnSpc>
                <a:buFont typeface="Arial" panose="020B0604020202020204" pitchFamily="34" charset="0"/>
                <a:buChar char="•"/>
              </a:pPr>
              <a:r>
                <a:rPr lang="pt-BR" dirty="0">
                  <a:solidFill>
                    <a:schemeClr val="bg1"/>
                  </a:solidFill>
                  <a:latin typeface="Aptos" panose="020B0004020202020204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(coordenador de 2020-23)</a:t>
              </a:r>
            </a:p>
            <a:p>
              <a:pPr marL="1544836" lvl="1" indent="-457200" algn="l">
                <a:lnSpc>
                  <a:spcPts val="4299"/>
                </a:lnSpc>
                <a:buFont typeface="Arial" panose="020B0604020202020204" pitchFamily="34" charset="0"/>
                <a:buChar char="•"/>
              </a:pPr>
              <a:r>
                <a:rPr lang="pt-BR" dirty="0">
                  <a:solidFill>
                    <a:schemeClr val="bg1"/>
                  </a:solidFill>
                  <a:latin typeface="Aptos" panose="020B0004020202020204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Propriarmonia – Unidade de Sáúde de Coimbra – 2017-2023</a:t>
              </a:r>
            </a:p>
            <a:p>
              <a:pPr marL="1544836" lvl="1" indent="-457200" algn="l">
                <a:lnSpc>
                  <a:spcPts val="4299"/>
                </a:lnSpc>
                <a:buFont typeface="Arial" panose="020B0604020202020204" pitchFamily="34" charset="0"/>
                <a:buChar char="•"/>
              </a:pPr>
              <a:r>
                <a:rPr lang="pt-BR" dirty="0">
                  <a:solidFill>
                    <a:schemeClr val="bg1"/>
                  </a:solidFill>
                  <a:latin typeface="Aptos" panose="020B0004020202020204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Etc...</a:t>
              </a:r>
            </a:p>
            <a:p>
              <a:pPr marL="457200" indent="-457200" algn="l">
                <a:lnSpc>
                  <a:spcPts val="4299"/>
                </a:lnSpc>
                <a:buFont typeface="Arial" panose="020B0604020202020204" pitchFamily="34" charset="0"/>
                <a:buChar char="•"/>
              </a:pPr>
              <a:r>
                <a:rPr lang="pt-BR" sz="4000" dirty="0">
                  <a:solidFill>
                    <a:schemeClr val="bg1"/>
                  </a:solidFill>
                  <a:latin typeface="Aptos" panose="020B0004020202020204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Professor Adjunto</a:t>
              </a:r>
            </a:p>
            <a:p>
              <a:pPr marL="1544836" lvl="1" indent="-457200" algn="l">
                <a:lnSpc>
                  <a:spcPts val="4299"/>
                </a:lnSpc>
                <a:buFont typeface="Arial" panose="020B0604020202020204" pitchFamily="34" charset="0"/>
                <a:buChar char="•"/>
              </a:pPr>
              <a:r>
                <a:rPr lang="pt-BR" dirty="0">
                  <a:solidFill>
                    <a:schemeClr val="bg1"/>
                  </a:solidFill>
                  <a:latin typeface="Aptos" panose="020B0004020202020204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Instituto Politécnico de Viseu - 2025</a:t>
              </a:r>
            </a:p>
            <a:p>
              <a:pPr marL="457200" indent="-457200" algn="l">
                <a:lnSpc>
                  <a:spcPts val="4299"/>
                </a:lnSpc>
                <a:buFont typeface="Arial" panose="020B0604020202020204" pitchFamily="34" charset="0"/>
                <a:buChar char="•"/>
              </a:pPr>
              <a:r>
                <a:rPr lang="pt-BR" sz="4000" dirty="0">
                  <a:solidFill>
                    <a:schemeClr val="bg1"/>
                  </a:solidFill>
                  <a:latin typeface="Aptos" panose="020B0004020202020204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Professor Adjunto Convidado</a:t>
              </a:r>
            </a:p>
            <a:p>
              <a:pPr marL="1544836" lvl="1" indent="-457200" algn="l">
                <a:lnSpc>
                  <a:spcPts val="4299"/>
                </a:lnSpc>
                <a:buFont typeface="Arial" panose="020B0604020202020204" pitchFamily="34" charset="0"/>
                <a:buChar char="•"/>
              </a:pPr>
              <a:r>
                <a:rPr lang="pt-BR" dirty="0">
                  <a:solidFill>
                    <a:schemeClr val="bg1"/>
                  </a:solidFill>
                  <a:latin typeface="Aptos" panose="020B0004020202020204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Universidade de Aveiro e Instituto Politécnicos de Santarém e Coimbra – 2023-?</a:t>
              </a:r>
            </a:p>
            <a:p>
              <a:pPr marL="457200" indent="-457200" algn="l">
                <a:lnSpc>
                  <a:spcPts val="4299"/>
                </a:lnSpc>
                <a:buFont typeface="Arial" panose="020B0604020202020204" pitchFamily="34" charset="0"/>
                <a:buChar char="•"/>
              </a:pPr>
              <a:r>
                <a:rPr lang="pt-BR" sz="4000" dirty="0">
                  <a:solidFill>
                    <a:schemeClr val="bg1"/>
                  </a:solidFill>
                  <a:latin typeface="Aptos" panose="020B0004020202020204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Assistente Convidado</a:t>
              </a:r>
            </a:p>
            <a:p>
              <a:pPr marL="1544836" lvl="1" indent="-457200" algn="l">
                <a:lnSpc>
                  <a:spcPts val="4299"/>
                </a:lnSpc>
                <a:buFont typeface="Arial" panose="020B0604020202020204" pitchFamily="34" charset="0"/>
                <a:buChar char="•"/>
              </a:pPr>
              <a:r>
                <a:rPr lang="pt-BR" dirty="0">
                  <a:solidFill>
                    <a:schemeClr val="bg1"/>
                  </a:solidFill>
                  <a:latin typeface="Aptos" panose="020B0004020202020204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Instituto Superior de Engenharia de Coimbra - 2012-2023</a:t>
              </a:r>
            </a:p>
            <a:p>
              <a:pPr algn="l">
                <a:lnSpc>
                  <a:spcPts val="4299"/>
                </a:lnSpc>
              </a:pPr>
              <a:endParaRPr lang="en-US" sz="4000" dirty="0">
                <a:solidFill>
                  <a:schemeClr val="bg1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endParaRPr>
            </a:p>
            <a:p>
              <a:pPr algn="l">
                <a:lnSpc>
                  <a:spcPts val="4299"/>
                </a:lnSpc>
              </a:pPr>
              <a:r>
                <a:rPr lang="en-US" sz="3600" dirty="0">
                  <a:solidFill>
                    <a:schemeClr val="bg1"/>
                  </a:solidFill>
                  <a:latin typeface="Aptos" panose="020B0004020202020204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E-mail: agodinho@ua.pt</a:t>
              </a:r>
            </a:p>
            <a:p>
              <a:pPr algn="l">
                <a:lnSpc>
                  <a:spcPts val="4299"/>
                </a:lnSpc>
              </a:pPr>
              <a:r>
                <a:rPr lang="en-US" sz="3600" dirty="0">
                  <a:solidFill>
                    <a:schemeClr val="bg1"/>
                  </a:solidFill>
                  <a:latin typeface="Aptos" panose="020B0004020202020204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Gabinete: ?</a:t>
              </a:r>
            </a:p>
            <a:p>
              <a:pPr algn="l">
                <a:lnSpc>
                  <a:spcPts val="4299"/>
                </a:lnSpc>
              </a:pPr>
              <a:r>
                <a:rPr lang="en-US" sz="3600" dirty="0" err="1">
                  <a:solidFill>
                    <a:schemeClr val="bg1"/>
                  </a:solidFill>
                  <a:latin typeface="Aptos" panose="020B0004020202020204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Horário</a:t>
              </a:r>
              <a:r>
                <a:rPr lang="en-US" sz="3600" dirty="0">
                  <a:solidFill>
                    <a:schemeClr val="bg1"/>
                  </a:solidFill>
                  <a:latin typeface="Aptos" panose="020B0004020202020204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 de Gabinete: 14:00-15:00</a:t>
              </a:r>
            </a:p>
            <a:p>
              <a:pPr algn="l">
                <a:lnSpc>
                  <a:spcPts val="4299"/>
                </a:lnSpc>
              </a:pPr>
              <a:endParaRPr lang="en-US" sz="2800" dirty="0">
                <a:solidFill>
                  <a:schemeClr val="bg1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endParaRPr>
            </a:p>
          </p:txBody>
        </p:sp>
      </p:grp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8A959DAB-A40B-4884-A8E0-BF8B7E1D191E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23" b="5023"/>
          <a:stretch>
            <a:fillRect/>
          </a:stretch>
        </p:blipFill>
        <p:spPr>
          <a:xfrm>
            <a:off x="19252022" y="179192"/>
            <a:ext cx="4894752" cy="4894752"/>
          </a:xfrm>
        </p:spPr>
      </p:pic>
    </p:spTree>
    <p:extLst>
      <p:ext uri="{BB962C8B-B14F-4D97-AF65-F5344CB8AC3E}">
        <p14:creationId xmlns:p14="http://schemas.microsoft.com/office/powerpoint/2010/main" val="617209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24377650" cy="1371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8CC762E-4926-7940-8459-13FF36A00A07}"/>
              </a:ext>
            </a:extLst>
          </p:cNvPr>
          <p:cNvGrpSpPr/>
          <p:nvPr/>
        </p:nvGrpSpPr>
        <p:grpSpPr>
          <a:xfrm>
            <a:off x="6809875" y="4032884"/>
            <a:ext cx="10996862" cy="4111348"/>
            <a:chOff x="6809875" y="3562260"/>
            <a:chExt cx="10996862" cy="4111348"/>
          </a:xfrm>
        </p:grpSpPr>
        <p:sp>
          <p:nvSpPr>
            <p:cNvPr id="21" name="TextBox 20"/>
            <p:cNvSpPr txBox="1"/>
            <p:nvPr/>
          </p:nvSpPr>
          <p:spPr>
            <a:xfrm>
              <a:off x="6809875" y="6042392"/>
              <a:ext cx="10996862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0" dirty="0">
                  <a:solidFill>
                    <a:schemeClr val="bg1"/>
                  </a:solidFill>
                  <a:latin typeface="Aptos" panose="020B0004020202020204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OBJETIVOS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3C67E9D-A339-7C4C-A347-C3810F510587}"/>
                </a:ext>
              </a:extLst>
            </p:cNvPr>
            <p:cNvSpPr/>
            <p:nvPr/>
          </p:nvSpPr>
          <p:spPr>
            <a:xfrm>
              <a:off x="10460609" y="5567635"/>
              <a:ext cx="3456432" cy="10059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5C59259-AB4D-8A44-80E3-F97CB937994D}"/>
                </a:ext>
              </a:extLst>
            </p:cNvPr>
            <p:cNvSpPr txBox="1"/>
            <p:nvPr/>
          </p:nvSpPr>
          <p:spPr>
            <a:xfrm>
              <a:off x="11449048" y="3562260"/>
              <a:ext cx="1479552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0" dirty="0">
                  <a:solidFill>
                    <a:schemeClr val="bg1"/>
                  </a:solidFill>
                  <a:latin typeface="Aptos" panose="020B0004020202020204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569270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456175" y="2872676"/>
            <a:ext cx="21465299" cy="92368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charset="0"/>
              <a:buChar char="•"/>
            </a:pPr>
            <a:r>
              <a:rPr lang="en-US" sz="4000" dirty="0" err="1"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Compreender</a:t>
            </a:r>
            <a:r>
              <a:rPr lang="en-US" sz="4000" dirty="0"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a </a:t>
            </a:r>
            <a:r>
              <a:rPr lang="en-US" sz="4000" dirty="0" err="1"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arquitetura</a:t>
            </a:r>
            <a:r>
              <a:rPr lang="en-US" sz="4000" dirty="0"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de </a:t>
            </a:r>
            <a:r>
              <a:rPr lang="en-US" sz="4000" dirty="0" err="1"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uma</a:t>
            </a:r>
            <a:r>
              <a:rPr lang="en-US" sz="4000" dirty="0"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rede de </a:t>
            </a:r>
            <a:r>
              <a:rPr lang="en-US" sz="4000" dirty="0" err="1"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comunicações</a:t>
            </a:r>
            <a:r>
              <a:rPr lang="en-US" sz="4000" dirty="0"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, </a:t>
            </a:r>
            <a:r>
              <a:rPr lang="en-US" sz="4000" dirty="0" err="1"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os</a:t>
            </a:r>
            <a:r>
              <a:rPr lang="en-US" sz="4000" dirty="0"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</a:t>
            </a:r>
            <a:r>
              <a:rPr lang="en-US" sz="4000" dirty="0" err="1"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protocolos</a:t>
            </a:r>
            <a:r>
              <a:rPr lang="en-US" sz="4000" dirty="0"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e o </a:t>
            </a:r>
            <a:r>
              <a:rPr lang="en-US" sz="4000" dirty="0" err="1"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funcionamento</a:t>
            </a:r>
            <a:r>
              <a:rPr lang="en-US" sz="4000" dirty="0"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dos </a:t>
            </a:r>
            <a:r>
              <a:rPr lang="en-US" sz="4000" dirty="0" err="1"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componentes</a:t>
            </a:r>
            <a:r>
              <a:rPr lang="en-US" sz="4000" dirty="0"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</a:t>
            </a:r>
            <a:r>
              <a:rPr lang="en-US" sz="4000" dirty="0" err="1"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integrantes</a:t>
            </a:r>
            <a:r>
              <a:rPr lang="en-US" sz="4000" dirty="0"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Arial" charset="0"/>
              <a:buChar char="•"/>
            </a:pPr>
            <a:r>
              <a:rPr lang="en-US" sz="4000" dirty="0" err="1"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Escolher</a:t>
            </a:r>
            <a:r>
              <a:rPr lang="en-US" sz="4000" dirty="0"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</a:t>
            </a:r>
            <a:r>
              <a:rPr lang="en-US" sz="4000" dirty="0" err="1"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topologias</a:t>
            </a:r>
            <a:r>
              <a:rPr lang="en-US" sz="4000" dirty="0"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de rede, </a:t>
            </a:r>
            <a:r>
              <a:rPr lang="en-US" sz="4000" dirty="0" err="1"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equipamentos</a:t>
            </a:r>
            <a:r>
              <a:rPr lang="en-US" sz="4000" dirty="0"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de rede </a:t>
            </a:r>
            <a:r>
              <a:rPr lang="en-US" sz="4000" dirty="0" err="1"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adequados</a:t>
            </a:r>
            <a:r>
              <a:rPr lang="en-US" sz="4000" dirty="0"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e </a:t>
            </a:r>
            <a:r>
              <a:rPr lang="en-US" sz="4000" dirty="0" err="1"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serviços</a:t>
            </a:r>
            <a:r>
              <a:rPr lang="en-US" sz="4000" dirty="0"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de </a:t>
            </a:r>
            <a:r>
              <a:rPr lang="en-US" sz="4000" dirty="0" err="1"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suporte</a:t>
            </a:r>
            <a:r>
              <a:rPr lang="en-US" sz="4000" dirty="0"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à </a:t>
            </a:r>
            <a:r>
              <a:rPr lang="en-US" sz="4000" dirty="0" err="1"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infraestrutura</a:t>
            </a:r>
            <a:r>
              <a:rPr lang="en-US" sz="4000" dirty="0"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de </a:t>
            </a:r>
            <a:r>
              <a:rPr lang="en-US" sz="4000" dirty="0" err="1"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comunicação</a:t>
            </a:r>
            <a:r>
              <a:rPr lang="en-US" sz="4000" dirty="0"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Arial" charset="0"/>
              <a:buChar char="•"/>
            </a:pPr>
            <a:r>
              <a:rPr lang="en-US" sz="4000" dirty="0" err="1"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Planear</a:t>
            </a:r>
            <a:r>
              <a:rPr lang="en-US" sz="4000" dirty="0"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, </a:t>
            </a:r>
            <a:r>
              <a:rPr lang="en-US" sz="4000" dirty="0" err="1"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implementar</a:t>
            </a:r>
            <a:r>
              <a:rPr lang="en-US" sz="4000" dirty="0"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e </a:t>
            </a:r>
            <a:r>
              <a:rPr lang="en-US" sz="4000" dirty="0" err="1"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manter</a:t>
            </a:r>
            <a:r>
              <a:rPr lang="en-US" sz="4000" dirty="0"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</a:t>
            </a:r>
            <a:r>
              <a:rPr lang="en-US" sz="4000" dirty="0" err="1"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esquemas</a:t>
            </a:r>
            <a:r>
              <a:rPr lang="en-US" sz="4000" dirty="0"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de </a:t>
            </a:r>
            <a:r>
              <a:rPr lang="en-US" sz="4000" dirty="0" err="1"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encaminhamento</a:t>
            </a:r>
            <a:r>
              <a:rPr lang="en-US" sz="4000" dirty="0"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</a:t>
            </a:r>
            <a:r>
              <a:rPr lang="en-US" sz="4000" dirty="0" err="1"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numa</a:t>
            </a:r>
            <a:r>
              <a:rPr lang="en-US" sz="4000" dirty="0"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rede interna.</a:t>
            </a:r>
          </a:p>
          <a:p>
            <a:pPr marL="342900" indent="-342900">
              <a:lnSpc>
                <a:spcPct val="150000"/>
              </a:lnSpc>
              <a:buFont typeface="Arial" charset="0"/>
              <a:buChar char="•"/>
            </a:pPr>
            <a:r>
              <a:rPr lang="en-US" sz="4000" dirty="0" err="1"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Identificar</a:t>
            </a:r>
            <a:r>
              <a:rPr lang="en-US" sz="4000" dirty="0"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</a:t>
            </a:r>
            <a:r>
              <a:rPr lang="en-US" sz="4000" dirty="0" err="1"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diferenças</a:t>
            </a:r>
            <a:r>
              <a:rPr lang="en-US" sz="4000" dirty="0"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entre </a:t>
            </a:r>
            <a:r>
              <a:rPr lang="en-US" sz="4000" dirty="0" err="1"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os</a:t>
            </a:r>
            <a:r>
              <a:rPr lang="en-US" sz="4000" dirty="0"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</a:t>
            </a:r>
            <a:r>
              <a:rPr lang="en-US" sz="4000" dirty="0" err="1"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protocolos</a:t>
            </a:r>
            <a:r>
              <a:rPr lang="en-US" sz="4000" dirty="0"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de </a:t>
            </a:r>
            <a:r>
              <a:rPr lang="en-US" sz="4000" dirty="0" err="1"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comunicação</a:t>
            </a:r>
            <a:r>
              <a:rPr lang="en-US" sz="4000" dirty="0"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e </a:t>
            </a:r>
            <a:r>
              <a:rPr lang="en-US" sz="4000" dirty="0" err="1"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escolher</a:t>
            </a:r>
            <a:r>
              <a:rPr lang="en-US" sz="4000" dirty="0"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o </a:t>
            </a:r>
            <a:r>
              <a:rPr lang="en-US" sz="4000" dirty="0" err="1"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mais</a:t>
            </a:r>
            <a:r>
              <a:rPr lang="en-US" sz="4000" dirty="0"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</a:t>
            </a:r>
            <a:r>
              <a:rPr lang="en-US" sz="4000" dirty="0" err="1"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adequado</a:t>
            </a:r>
            <a:r>
              <a:rPr lang="en-US" sz="4000" dirty="0"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</a:t>
            </a:r>
            <a:r>
              <a:rPr lang="en-US" sz="4000" dirty="0" err="1"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aos</a:t>
            </a:r>
            <a:r>
              <a:rPr lang="en-US" sz="4000" dirty="0"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</a:t>
            </a:r>
            <a:r>
              <a:rPr lang="en-US" sz="4000" dirty="0" err="1"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requisitos</a:t>
            </a:r>
            <a:r>
              <a:rPr lang="en-US" sz="4000" dirty="0"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da </a:t>
            </a:r>
            <a:r>
              <a:rPr lang="en-US" sz="4000" dirty="0" err="1"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aplicação</a:t>
            </a:r>
            <a:r>
              <a:rPr lang="en-US" sz="4000" dirty="0"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Arial" charset="0"/>
              <a:buChar char="•"/>
            </a:pPr>
            <a:r>
              <a:rPr lang="en-US" sz="4000" dirty="0" err="1"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Efetuar</a:t>
            </a:r>
            <a:r>
              <a:rPr lang="en-US" sz="4000" dirty="0"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e </a:t>
            </a:r>
            <a:r>
              <a:rPr lang="en-US" sz="4000" dirty="0" err="1"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manter</a:t>
            </a:r>
            <a:r>
              <a:rPr lang="en-US" sz="4000" dirty="0"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a </a:t>
            </a:r>
            <a:r>
              <a:rPr lang="en-US" sz="4000" dirty="0" err="1"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configuração</a:t>
            </a:r>
            <a:r>
              <a:rPr lang="en-US" sz="4000" dirty="0"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dos </a:t>
            </a:r>
            <a:r>
              <a:rPr lang="en-US" sz="4000" dirty="0" err="1"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equipamentos</a:t>
            </a:r>
            <a:r>
              <a:rPr lang="en-US" sz="4000" dirty="0"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e dos </a:t>
            </a:r>
            <a:r>
              <a:rPr lang="en-US" sz="4000" dirty="0" err="1"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sistemas</a:t>
            </a:r>
            <a:r>
              <a:rPr lang="en-US" sz="4000" dirty="0"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de </a:t>
            </a:r>
            <a:r>
              <a:rPr lang="en-US" sz="4000" dirty="0" err="1"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suporte</a:t>
            </a:r>
            <a:r>
              <a:rPr lang="en-US" sz="4000" dirty="0"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Arial" charset="0"/>
              <a:buChar char="•"/>
            </a:pPr>
            <a:r>
              <a:rPr lang="en-US" sz="4000" dirty="0" err="1"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Detetar</a:t>
            </a:r>
            <a:r>
              <a:rPr lang="en-US" sz="4000" dirty="0"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</a:t>
            </a:r>
            <a:r>
              <a:rPr lang="en-US" sz="4000" dirty="0" err="1"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problemas</a:t>
            </a:r>
            <a:r>
              <a:rPr lang="en-US" sz="4000" dirty="0"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no </a:t>
            </a:r>
            <a:r>
              <a:rPr lang="en-US" sz="4000" dirty="0" err="1"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funcionamento</a:t>
            </a:r>
            <a:r>
              <a:rPr lang="en-US" sz="4000" dirty="0"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da rede e dos </a:t>
            </a:r>
            <a:r>
              <a:rPr lang="en-US" sz="4000" dirty="0" err="1"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serviços</a:t>
            </a:r>
            <a:r>
              <a:rPr lang="en-US" sz="4000" dirty="0"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, </a:t>
            </a:r>
            <a:r>
              <a:rPr lang="en-US" sz="4000" dirty="0" err="1"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identificar</a:t>
            </a:r>
            <a:r>
              <a:rPr lang="en-US" sz="4000" dirty="0"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as </a:t>
            </a:r>
            <a:r>
              <a:rPr lang="en-US" sz="4000" dirty="0" err="1"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respetivas</a:t>
            </a:r>
            <a:r>
              <a:rPr lang="en-US" sz="4000" dirty="0"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</a:t>
            </a:r>
            <a:r>
              <a:rPr lang="en-US" sz="4000" dirty="0" err="1"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causas</a:t>
            </a:r>
            <a:r>
              <a:rPr lang="en-US" sz="4000" dirty="0"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e </a:t>
            </a:r>
            <a:r>
              <a:rPr lang="en-US" sz="4000" dirty="0" err="1"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sugerir</a:t>
            </a:r>
            <a:r>
              <a:rPr lang="en-US" sz="4000" dirty="0"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</a:t>
            </a:r>
            <a:r>
              <a:rPr lang="en-US" sz="4000" dirty="0" err="1"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ações</a:t>
            </a:r>
            <a:r>
              <a:rPr lang="en-US" sz="4000" dirty="0"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</a:t>
            </a:r>
            <a:r>
              <a:rPr lang="en-US" sz="4000" dirty="0" err="1"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adequadas</a:t>
            </a:r>
            <a:r>
              <a:rPr lang="en-US" sz="4000" dirty="0"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para a </a:t>
            </a:r>
            <a:r>
              <a:rPr lang="en-US" sz="4000" dirty="0" err="1"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sua</a:t>
            </a:r>
            <a:r>
              <a:rPr lang="en-US" sz="4000" dirty="0"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</a:t>
            </a:r>
            <a:r>
              <a:rPr lang="en-US" sz="4000" dirty="0" err="1"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resolução</a:t>
            </a:r>
            <a:r>
              <a:rPr lang="en-US" sz="4000" dirty="0"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EA56AF7-A67E-3948-9E92-10DEF03A0CF4}"/>
              </a:ext>
            </a:extLst>
          </p:cNvPr>
          <p:cNvSpPr/>
          <p:nvPr/>
        </p:nvSpPr>
        <p:spPr>
          <a:xfrm>
            <a:off x="24174450" y="0"/>
            <a:ext cx="203200" cy="1371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E20399-3B35-CC41-8D2A-7024704CF5CD}"/>
              </a:ext>
            </a:extLst>
          </p:cNvPr>
          <p:cNvSpPr txBox="1"/>
          <p:nvPr/>
        </p:nvSpPr>
        <p:spPr>
          <a:xfrm>
            <a:off x="1309360" y="1428345"/>
            <a:ext cx="1745761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OBJETIVOS</a:t>
            </a:r>
          </a:p>
        </p:txBody>
      </p:sp>
    </p:spTree>
    <p:extLst>
      <p:ext uri="{BB962C8B-B14F-4D97-AF65-F5344CB8AC3E}">
        <p14:creationId xmlns:p14="http://schemas.microsoft.com/office/powerpoint/2010/main" val="36420991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24377650" cy="1371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8CC762E-4926-7940-8459-13FF36A00A07}"/>
              </a:ext>
            </a:extLst>
          </p:cNvPr>
          <p:cNvGrpSpPr/>
          <p:nvPr/>
        </p:nvGrpSpPr>
        <p:grpSpPr>
          <a:xfrm>
            <a:off x="6809875" y="4032884"/>
            <a:ext cx="10996862" cy="5650231"/>
            <a:chOff x="6809875" y="3562260"/>
            <a:chExt cx="10996862" cy="5650231"/>
          </a:xfrm>
        </p:grpSpPr>
        <p:sp>
          <p:nvSpPr>
            <p:cNvPr id="21" name="TextBox 20"/>
            <p:cNvSpPr txBox="1"/>
            <p:nvPr/>
          </p:nvSpPr>
          <p:spPr>
            <a:xfrm>
              <a:off x="6809875" y="6042392"/>
              <a:ext cx="10996862" cy="31700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0" dirty="0">
                  <a:solidFill>
                    <a:schemeClr val="bg1"/>
                  </a:solidFill>
                  <a:latin typeface="Aptos" panose="020B0004020202020204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RESULTADOS DA APRENDIZAGEM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3C67E9D-A339-7C4C-A347-C3810F510587}"/>
                </a:ext>
              </a:extLst>
            </p:cNvPr>
            <p:cNvSpPr/>
            <p:nvPr/>
          </p:nvSpPr>
          <p:spPr>
            <a:xfrm>
              <a:off x="10460609" y="5567635"/>
              <a:ext cx="3456432" cy="10059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5C59259-AB4D-8A44-80E3-F97CB937994D}"/>
                </a:ext>
              </a:extLst>
            </p:cNvPr>
            <p:cNvSpPr txBox="1"/>
            <p:nvPr/>
          </p:nvSpPr>
          <p:spPr>
            <a:xfrm>
              <a:off x="11449048" y="3562260"/>
              <a:ext cx="1479552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0" dirty="0">
                  <a:solidFill>
                    <a:schemeClr val="bg1"/>
                  </a:solidFill>
                  <a:latin typeface="Aptos" panose="020B0004020202020204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074796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455800" y="3917705"/>
            <a:ext cx="21465299" cy="66604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charset="0"/>
              <a:buChar char="•"/>
            </a:pPr>
            <a:r>
              <a:rPr lang="en-US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Escolher</a:t>
            </a:r>
            <a:r>
              <a:rPr lang="en-US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as </a:t>
            </a:r>
            <a:r>
              <a:rPr lang="en-US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topologias</a:t>
            </a:r>
            <a:r>
              <a:rPr lang="en-US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, as </a:t>
            </a:r>
            <a:r>
              <a:rPr lang="en-US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cablagens</a:t>
            </a:r>
            <a:r>
              <a:rPr lang="en-US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, </a:t>
            </a:r>
            <a:r>
              <a:rPr lang="en-US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os</a:t>
            </a:r>
            <a:r>
              <a:rPr lang="en-US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equipamentos</a:t>
            </a:r>
            <a:r>
              <a:rPr lang="en-US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adequados</a:t>
            </a:r>
            <a:r>
              <a:rPr lang="en-US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e </a:t>
            </a:r>
            <a:r>
              <a:rPr lang="en-US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explicar</a:t>
            </a:r>
            <a:r>
              <a:rPr lang="en-US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o </a:t>
            </a:r>
            <a:r>
              <a:rPr lang="en-US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funcionamento</a:t>
            </a:r>
            <a:r>
              <a:rPr lang="en-US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dos </a:t>
            </a:r>
            <a:r>
              <a:rPr lang="en-US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diversos</a:t>
            </a:r>
            <a:r>
              <a:rPr lang="en-US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componentes</a:t>
            </a:r>
            <a:r>
              <a:rPr lang="en-US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de </a:t>
            </a:r>
            <a:r>
              <a:rPr lang="en-US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uma</a:t>
            </a:r>
            <a:r>
              <a:rPr lang="en-US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rede </a:t>
            </a:r>
            <a:r>
              <a:rPr lang="en-US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informática</a:t>
            </a:r>
            <a:endParaRPr lang="en-US" dirty="0">
              <a:solidFill>
                <a:schemeClr val="tx2"/>
              </a:solidFill>
              <a:latin typeface="Aptos" panose="020B0004020202020204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  <a:p>
            <a:pPr marL="342900" indent="-342900">
              <a:lnSpc>
                <a:spcPct val="150000"/>
              </a:lnSpc>
              <a:buFont typeface="Arial" charset="0"/>
              <a:buChar char="•"/>
            </a:pPr>
            <a:r>
              <a:rPr lang="en-US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Efetuar</a:t>
            </a:r>
            <a:r>
              <a:rPr lang="en-US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e </a:t>
            </a:r>
            <a:r>
              <a:rPr lang="en-US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manter</a:t>
            </a:r>
            <a:r>
              <a:rPr lang="en-US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a </a:t>
            </a:r>
            <a:r>
              <a:rPr lang="en-US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configuração</a:t>
            </a:r>
            <a:r>
              <a:rPr lang="en-US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de rede dos </a:t>
            </a:r>
            <a:r>
              <a:rPr lang="en-US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equipamentos</a:t>
            </a:r>
            <a:r>
              <a:rPr lang="en-US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e dos </a:t>
            </a:r>
            <a:r>
              <a:rPr lang="en-US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sistemas</a:t>
            </a:r>
            <a:r>
              <a:rPr lang="en-US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da rede de </a:t>
            </a:r>
            <a:r>
              <a:rPr lang="en-US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uma</a:t>
            </a:r>
            <a:r>
              <a:rPr lang="en-US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organização</a:t>
            </a:r>
            <a:endParaRPr lang="en-US" dirty="0">
              <a:solidFill>
                <a:schemeClr val="tx2"/>
              </a:solidFill>
              <a:latin typeface="Aptos" panose="020B0004020202020204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  <a:p>
            <a:pPr marL="342900" indent="-342900">
              <a:lnSpc>
                <a:spcPct val="150000"/>
              </a:lnSpc>
              <a:buFont typeface="Arial" charset="0"/>
              <a:buChar char="•"/>
            </a:pPr>
            <a:r>
              <a:rPr lang="en-US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Planear</a:t>
            </a:r>
            <a:r>
              <a:rPr lang="en-US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, </a:t>
            </a:r>
            <a:r>
              <a:rPr lang="en-US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implementar</a:t>
            </a:r>
            <a:r>
              <a:rPr lang="en-US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e </a:t>
            </a:r>
            <a:r>
              <a:rPr lang="en-US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manter</a:t>
            </a:r>
            <a:r>
              <a:rPr lang="en-US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esquemas</a:t>
            </a:r>
            <a:r>
              <a:rPr lang="en-US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de </a:t>
            </a:r>
            <a:r>
              <a:rPr lang="en-US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encaminhamento</a:t>
            </a:r>
            <a:r>
              <a:rPr lang="en-US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interno</a:t>
            </a:r>
            <a:r>
              <a:rPr lang="en-US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à </a:t>
            </a:r>
            <a:r>
              <a:rPr lang="en-US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organização</a:t>
            </a:r>
            <a:endParaRPr lang="en-US" dirty="0">
              <a:solidFill>
                <a:schemeClr val="tx2"/>
              </a:solidFill>
              <a:latin typeface="Aptos" panose="020B0004020202020204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  <a:p>
            <a:pPr marL="342900" indent="-342900">
              <a:lnSpc>
                <a:spcPct val="150000"/>
              </a:lnSpc>
              <a:buFont typeface="Arial" charset="0"/>
              <a:buChar char="•"/>
            </a:pPr>
            <a:r>
              <a:rPr lang="en-US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Identificar</a:t>
            </a:r>
            <a:r>
              <a:rPr lang="en-US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diferenças</a:t>
            </a:r>
            <a:r>
              <a:rPr lang="en-US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entre as </a:t>
            </a:r>
            <a:r>
              <a:rPr lang="en-US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diversas</a:t>
            </a:r>
            <a:r>
              <a:rPr lang="en-US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soluções</a:t>
            </a:r>
            <a:r>
              <a:rPr lang="en-US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de </a:t>
            </a:r>
            <a:r>
              <a:rPr lang="en-US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transporte</a:t>
            </a:r>
            <a:r>
              <a:rPr lang="en-US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, e </a:t>
            </a:r>
            <a:r>
              <a:rPr lang="en-US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escolher</a:t>
            </a:r>
            <a:r>
              <a:rPr lang="en-US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a </a:t>
            </a:r>
            <a:r>
              <a:rPr lang="en-US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mais</a:t>
            </a:r>
            <a:r>
              <a:rPr lang="en-US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adequada</a:t>
            </a:r>
            <a:r>
              <a:rPr lang="en-US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aos</a:t>
            </a:r>
            <a:r>
              <a:rPr lang="en-US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requisitos</a:t>
            </a:r>
            <a:r>
              <a:rPr lang="en-US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do </a:t>
            </a:r>
            <a:r>
              <a:rPr lang="en-US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tráfego</a:t>
            </a:r>
            <a:endParaRPr lang="en-US" dirty="0">
              <a:solidFill>
                <a:schemeClr val="tx2"/>
              </a:solidFill>
              <a:latin typeface="Aptos" panose="020B0004020202020204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  <a:p>
            <a:pPr marL="342900" indent="-342900">
              <a:lnSpc>
                <a:spcPct val="150000"/>
              </a:lnSpc>
              <a:buFont typeface="Arial" charset="0"/>
              <a:buChar char="•"/>
            </a:pPr>
            <a:r>
              <a:rPr lang="en-US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Detetar</a:t>
            </a:r>
            <a:r>
              <a:rPr lang="en-US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problemas</a:t>
            </a:r>
            <a:r>
              <a:rPr lang="en-US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no </a:t>
            </a:r>
            <a:r>
              <a:rPr lang="en-US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funcionamento</a:t>
            </a:r>
            <a:r>
              <a:rPr lang="en-US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da rede e dos </a:t>
            </a:r>
            <a:r>
              <a:rPr lang="en-US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serviços</a:t>
            </a:r>
            <a:r>
              <a:rPr lang="en-US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, </a:t>
            </a:r>
            <a:r>
              <a:rPr lang="en-US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identificar</a:t>
            </a:r>
            <a:r>
              <a:rPr lang="en-US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as </a:t>
            </a:r>
            <a:r>
              <a:rPr lang="en-US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respectivas</a:t>
            </a:r>
            <a:r>
              <a:rPr lang="en-US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causas</a:t>
            </a:r>
            <a:r>
              <a:rPr lang="en-US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e </a:t>
            </a:r>
            <a:r>
              <a:rPr lang="en-US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sugerir</a:t>
            </a:r>
            <a:r>
              <a:rPr lang="en-US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ações</a:t>
            </a:r>
            <a:r>
              <a:rPr lang="en-US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adequadas</a:t>
            </a:r>
            <a:r>
              <a:rPr lang="en-US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para a </a:t>
            </a:r>
            <a:r>
              <a:rPr lang="en-US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sua</a:t>
            </a:r>
            <a:r>
              <a:rPr lang="en-US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resolução</a:t>
            </a:r>
            <a:endParaRPr lang="en-US" dirty="0">
              <a:solidFill>
                <a:schemeClr val="tx2"/>
              </a:solidFill>
              <a:latin typeface="Aptos" panose="020B0004020202020204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EA56AF7-A67E-3948-9E92-10DEF03A0CF4}"/>
              </a:ext>
            </a:extLst>
          </p:cNvPr>
          <p:cNvSpPr/>
          <p:nvPr/>
        </p:nvSpPr>
        <p:spPr>
          <a:xfrm>
            <a:off x="24174450" y="0"/>
            <a:ext cx="203200" cy="1371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E20399-3B35-CC41-8D2A-7024704CF5CD}"/>
              </a:ext>
            </a:extLst>
          </p:cNvPr>
          <p:cNvSpPr txBox="1"/>
          <p:nvPr/>
        </p:nvSpPr>
        <p:spPr>
          <a:xfrm>
            <a:off x="1309360" y="1428345"/>
            <a:ext cx="1745761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RESULTADOS DA APRENDIZAGEM</a:t>
            </a:r>
          </a:p>
        </p:txBody>
      </p:sp>
    </p:spTree>
    <p:extLst>
      <p:ext uri="{BB962C8B-B14F-4D97-AF65-F5344CB8AC3E}">
        <p14:creationId xmlns:p14="http://schemas.microsoft.com/office/powerpoint/2010/main" val="11334651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24377650" cy="1371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8CC762E-4926-7940-8459-13FF36A00A07}"/>
              </a:ext>
            </a:extLst>
          </p:cNvPr>
          <p:cNvGrpSpPr/>
          <p:nvPr/>
        </p:nvGrpSpPr>
        <p:grpSpPr>
          <a:xfrm>
            <a:off x="6809875" y="4032884"/>
            <a:ext cx="10996862" cy="4111348"/>
            <a:chOff x="6809875" y="3562260"/>
            <a:chExt cx="10996862" cy="4111348"/>
          </a:xfrm>
        </p:grpSpPr>
        <p:sp>
          <p:nvSpPr>
            <p:cNvPr id="21" name="TextBox 20"/>
            <p:cNvSpPr txBox="1"/>
            <p:nvPr/>
          </p:nvSpPr>
          <p:spPr>
            <a:xfrm>
              <a:off x="6809875" y="6042392"/>
              <a:ext cx="10996862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0" dirty="0">
                  <a:solidFill>
                    <a:schemeClr val="bg1"/>
                  </a:solidFill>
                  <a:latin typeface="Aptos" panose="020B0004020202020204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METODOLOGIA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3C67E9D-A339-7C4C-A347-C3810F510587}"/>
                </a:ext>
              </a:extLst>
            </p:cNvPr>
            <p:cNvSpPr/>
            <p:nvPr/>
          </p:nvSpPr>
          <p:spPr>
            <a:xfrm>
              <a:off x="10460609" y="5567635"/>
              <a:ext cx="3456432" cy="10059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5C59259-AB4D-8A44-80E3-F97CB937994D}"/>
                </a:ext>
              </a:extLst>
            </p:cNvPr>
            <p:cNvSpPr txBox="1"/>
            <p:nvPr/>
          </p:nvSpPr>
          <p:spPr>
            <a:xfrm>
              <a:off x="11449048" y="3562260"/>
              <a:ext cx="1479552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0" dirty="0">
                  <a:solidFill>
                    <a:schemeClr val="bg1"/>
                  </a:solidFill>
                  <a:latin typeface="Aptos" panose="020B0004020202020204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855681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455800" y="3917705"/>
            <a:ext cx="21465299" cy="36969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charset="0"/>
              <a:buChar char="•"/>
            </a:pPr>
            <a:r>
              <a:rPr lang="en-US" sz="4000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Aulas </a:t>
            </a:r>
            <a:r>
              <a:rPr lang="en-US" sz="4000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incluem</a:t>
            </a:r>
            <a:r>
              <a:rPr lang="en-US" sz="4000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breve </a:t>
            </a:r>
            <a:r>
              <a:rPr lang="en-US" sz="4000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apresentação</a:t>
            </a:r>
            <a:r>
              <a:rPr lang="en-US" sz="4000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</a:t>
            </a:r>
            <a:r>
              <a:rPr lang="en-US" sz="4000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acerca</a:t>
            </a:r>
            <a:r>
              <a:rPr lang="en-US" sz="4000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do </a:t>
            </a:r>
            <a:r>
              <a:rPr lang="en-US" sz="4000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tema</a:t>
            </a:r>
            <a:r>
              <a:rPr lang="en-US" sz="4000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da aula e o </a:t>
            </a:r>
            <a:r>
              <a:rPr lang="en-US" sz="4000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desenvolvimento</a:t>
            </a:r>
            <a:r>
              <a:rPr lang="en-US" sz="4000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de um </a:t>
            </a:r>
            <a:r>
              <a:rPr lang="en-US" sz="4000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trabalho</a:t>
            </a:r>
            <a:r>
              <a:rPr lang="en-US" sz="4000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laboratorial </a:t>
            </a:r>
            <a:r>
              <a:rPr lang="en-US" sz="4000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descrito</a:t>
            </a:r>
            <a:r>
              <a:rPr lang="en-US" sz="4000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no </a:t>
            </a:r>
            <a:r>
              <a:rPr lang="en-US" sz="4000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guião</a:t>
            </a:r>
            <a:r>
              <a:rPr lang="en-US" sz="4000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da aula.</a:t>
            </a:r>
          </a:p>
          <a:p>
            <a:pPr marL="342900" indent="-342900">
              <a:lnSpc>
                <a:spcPct val="150000"/>
              </a:lnSpc>
              <a:buFont typeface="Arial" charset="0"/>
              <a:buChar char="•"/>
            </a:pPr>
            <a:r>
              <a:rPr lang="en-US" sz="4000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Aulas </a:t>
            </a:r>
            <a:r>
              <a:rPr lang="en-US" sz="4000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teórico-práticas</a:t>
            </a:r>
            <a:r>
              <a:rPr lang="en-US" sz="4000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</a:t>
            </a:r>
            <a:r>
              <a:rPr lang="en-US" sz="4000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envolvendo</a:t>
            </a:r>
            <a:r>
              <a:rPr lang="en-US" sz="4000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</a:t>
            </a:r>
            <a:r>
              <a:rPr lang="en-US" sz="4000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desenvolvimento</a:t>
            </a:r>
            <a:r>
              <a:rPr lang="en-US" sz="4000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</a:t>
            </a:r>
            <a:r>
              <a:rPr lang="en-US" sz="4000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assistido</a:t>
            </a:r>
            <a:r>
              <a:rPr lang="en-US" sz="4000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e </a:t>
            </a:r>
            <a:r>
              <a:rPr lang="en-US" sz="4000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autónomo</a:t>
            </a:r>
            <a:r>
              <a:rPr lang="en-US" sz="4000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de </a:t>
            </a:r>
            <a:r>
              <a:rPr lang="en-US" sz="4000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trabalhos</a:t>
            </a:r>
            <a:r>
              <a:rPr lang="en-US" sz="4000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</a:t>
            </a:r>
            <a:r>
              <a:rPr lang="en-US" sz="4000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relacionados</a:t>
            </a:r>
            <a:r>
              <a:rPr lang="en-US" sz="4000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e a </a:t>
            </a:r>
            <a:r>
              <a:rPr lang="en-US" sz="4000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exposição</a:t>
            </a:r>
            <a:r>
              <a:rPr lang="en-US" sz="4000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de </a:t>
            </a:r>
            <a:r>
              <a:rPr lang="en-US" sz="4000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conceitos</a:t>
            </a:r>
            <a:r>
              <a:rPr lang="en-US" sz="4000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</a:t>
            </a:r>
            <a:r>
              <a:rPr lang="en-US" sz="4000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relacionados</a:t>
            </a:r>
            <a:r>
              <a:rPr lang="en-US" sz="4000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EA56AF7-A67E-3948-9E92-10DEF03A0CF4}"/>
              </a:ext>
            </a:extLst>
          </p:cNvPr>
          <p:cNvSpPr/>
          <p:nvPr/>
        </p:nvSpPr>
        <p:spPr>
          <a:xfrm>
            <a:off x="24174450" y="0"/>
            <a:ext cx="203200" cy="1371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E20399-3B35-CC41-8D2A-7024704CF5CD}"/>
              </a:ext>
            </a:extLst>
          </p:cNvPr>
          <p:cNvSpPr txBox="1"/>
          <p:nvPr/>
        </p:nvSpPr>
        <p:spPr>
          <a:xfrm>
            <a:off x="1309360" y="1428345"/>
            <a:ext cx="1745761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METODOLOGIA</a:t>
            </a:r>
          </a:p>
        </p:txBody>
      </p:sp>
    </p:spTree>
    <p:extLst>
      <p:ext uri="{BB962C8B-B14F-4D97-AF65-F5344CB8AC3E}">
        <p14:creationId xmlns:p14="http://schemas.microsoft.com/office/powerpoint/2010/main" val="21225234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24377650" cy="1371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8CC762E-4926-7940-8459-13FF36A00A07}"/>
              </a:ext>
            </a:extLst>
          </p:cNvPr>
          <p:cNvGrpSpPr/>
          <p:nvPr/>
        </p:nvGrpSpPr>
        <p:grpSpPr>
          <a:xfrm>
            <a:off x="6809875" y="4032884"/>
            <a:ext cx="10996862" cy="5650231"/>
            <a:chOff x="6809875" y="3562260"/>
            <a:chExt cx="10996862" cy="5650231"/>
          </a:xfrm>
        </p:grpSpPr>
        <p:sp>
          <p:nvSpPr>
            <p:cNvPr id="21" name="TextBox 20"/>
            <p:cNvSpPr txBox="1"/>
            <p:nvPr/>
          </p:nvSpPr>
          <p:spPr>
            <a:xfrm>
              <a:off x="6809875" y="6042392"/>
              <a:ext cx="10996862" cy="31700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0" dirty="0">
                  <a:solidFill>
                    <a:schemeClr val="bg1"/>
                  </a:solidFill>
                  <a:latin typeface="Aptos" panose="020B0004020202020204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CONTEÚDOS PROGRAMÁTICOS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3C67E9D-A339-7C4C-A347-C3810F510587}"/>
                </a:ext>
              </a:extLst>
            </p:cNvPr>
            <p:cNvSpPr/>
            <p:nvPr/>
          </p:nvSpPr>
          <p:spPr>
            <a:xfrm>
              <a:off x="10460609" y="5567635"/>
              <a:ext cx="3456432" cy="10059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5C59259-AB4D-8A44-80E3-F97CB937994D}"/>
                </a:ext>
              </a:extLst>
            </p:cNvPr>
            <p:cNvSpPr txBox="1"/>
            <p:nvPr/>
          </p:nvSpPr>
          <p:spPr>
            <a:xfrm>
              <a:off x="11449048" y="3562260"/>
              <a:ext cx="1479552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0" dirty="0">
                  <a:solidFill>
                    <a:schemeClr val="bg1"/>
                  </a:solidFill>
                  <a:latin typeface="Aptos" panose="020B0004020202020204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04833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455800" y="3917705"/>
            <a:ext cx="21465299" cy="91534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u="sng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1. </a:t>
            </a:r>
            <a:r>
              <a:rPr lang="en-US" b="1" u="sng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Camada</a:t>
            </a:r>
            <a:r>
              <a:rPr lang="en-US" b="1" u="sng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</a:t>
            </a:r>
            <a:r>
              <a:rPr lang="en-US" b="1" u="sng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física</a:t>
            </a:r>
            <a:r>
              <a:rPr lang="en-US" b="1" u="sng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:</a:t>
            </a:r>
          </a:p>
          <a:p>
            <a:pPr>
              <a:lnSpc>
                <a:spcPct val="150000"/>
              </a:lnSpc>
            </a:pPr>
            <a:endParaRPr lang="en-US" b="1" u="sng" dirty="0">
              <a:solidFill>
                <a:schemeClr val="tx2"/>
              </a:solidFill>
              <a:latin typeface="Aptos" panose="020B0004020202020204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  <a:p>
            <a:pPr marL="1257117" lvl="1" indent="-342900">
              <a:lnSpc>
                <a:spcPct val="150000"/>
              </a:lnSpc>
              <a:buFont typeface="Arial" charset="0"/>
              <a:buChar char="•"/>
            </a:pPr>
            <a:r>
              <a:rPr lang="en-US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processos</a:t>
            </a:r>
            <a:r>
              <a:rPr lang="en-US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de </a:t>
            </a:r>
            <a:r>
              <a:rPr lang="en-US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amostragem</a:t>
            </a:r>
            <a:r>
              <a:rPr lang="en-US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, </a:t>
            </a:r>
            <a:r>
              <a:rPr lang="en-US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digitalização</a:t>
            </a:r>
            <a:r>
              <a:rPr lang="en-US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e </a:t>
            </a:r>
            <a:r>
              <a:rPr lang="en-US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transmissão</a:t>
            </a:r>
            <a:r>
              <a:rPr lang="en-US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de </a:t>
            </a:r>
            <a:r>
              <a:rPr lang="en-US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sinais</a:t>
            </a:r>
            <a:r>
              <a:rPr lang="en-US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digitais</a:t>
            </a:r>
            <a:endParaRPr lang="en-US" dirty="0">
              <a:solidFill>
                <a:schemeClr val="tx2"/>
              </a:solidFill>
              <a:latin typeface="Aptos" panose="020B0004020202020204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  <a:p>
            <a:pPr marL="1257117" lvl="1" indent="-342900">
              <a:lnSpc>
                <a:spcPct val="150000"/>
              </a:lnSpc>
              <a:buFont typeface="Arial" charset="0"/>
              <a:buChar char="•"/>
            </a:pPr>
            <a:r>
              <a:rPr lang="en-US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topologias</a:t>
            </a:r>
            <a:r>
              <a:rPr lang="en-US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de rede</a:t>
            </a:r>
          </a:p>
          <a:p>
            <a:pPr marL="1257117" lvl="1" indent="-342900">
              <a:lnSpc>
                <a:spcPct val="150000"/>
              </a:lnSpc>
              <a:buFont typeface="Arial" charset="0"/>
              <a:buChar char="•"/>
            </a:pPr>
            <a:r>
              <a:rPr lang="en-US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cablagens</a:t>
            </a:r>
            <a:r>
              <a:rPr lang="en-US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, </a:t>
            </a:r>
            <a:r>
              <a:rPr lang="en-US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conectores</a:t>
            </a:r>
            <a:r>
              <a:rPr lang="en-US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e </a:t>
            </a:r>
            <a:r>
              <a:rPr lang="en-US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codificação</a:t>
            </a:r>
            <a:endParaRPr lang="en-US" dirty="0">
              <a:solidFill>
                <a:schemeClr val="tx2"/>
              </a:solidFill>
              <a:latin typeface="Aptos" panose="020B0004020202020204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  <a:p>
            <a:pPr marL="342900" indent="-342900">
              <a:lnSpc>
                <a:spcPct val="150000"/>
              </a:lnSpc>
              <a:buFont typeface="Arial" charset="0"/>
              <a:buChar char="•"/>
            </a:pPr>
            <a:endParaRPr lang="en-US" dirty="0">
              <a:solidFill>
                <a:schemeClr val="tx2"/>
              </a:solidFill>
              <a:latin typeface="Aptos" panose="020B0004020202020204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  <a:p>
            <a:pPr>
              <a:lnSpc>
                <a:spcPct val="150000"/>
              </a:lnSpc>
            </a:pPr>
            <a:r>
              <a:rPr lang="en-US" b="1" u="sng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2. </a:t>
            </a:r>
            <a:r>
              <a:rPr lang="en-US" b="1" u="sng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Camada</a:t>
            </a:r>
            <a:r>
              <a:rPr lang="en-US" b="1" u="sng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de </a:t>
            </a:r>
            <a:r>
              <a:rPr lang="en-US" b="1" u="sng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acesso</a:t>
            </a:r>
            <a:r>
              <a:rPr lang="en-US" b="1" u="sng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:</a:t>
            </a:r>
          </a:p>
          <a:p>
            <a:pPr>
              <a:lnSpc>
                <a:spcPct val="150000"/>
              </a:lnSpc>
            </a:pPr>
            <a:endParaRPr lang="en-US" u="sng" dirty="0">
              <a:solidFill>
                <a:schemeClr val="tx2"/>
              </a:solidFill>
              <a:latin typeface="Aptos" panose="020B0004020202020204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  <a:p>
            <a:pPr marL="1257117" lvl="1" indent="-342900">
              <a:lnSpc>
                <a:spcPct val="150000"/>
              </a:lnSpc>
              <a:buFont typeface="Arial" charset="0"/>
              <a:buChar char="•"/>
            </a:pPr>
            <a:r>
              <a:rPr lang="en-US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modelo</a:t>
            </a:r>
            <a:r>
              <a:rPr lang="en-US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de </a:t>
            </a:r>
            <a:r>
              <a:rPr lang="en-US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endereçamento</a:t>
            </a:r>
            <a:r>
              <a:rPr lang="en-US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IEEE 802</a:t>
            </a:r>
          </a:p>
          <a:p>
            <a:pPr marL="1257117" lvl="1" indent="-342900">
              <a:lnSpc>
                <a:spcPct val="150000"/>
              </a:lnSpc>
              <a:buFont typeface="Arial" charset="0"/>
              <a:buChar char="•"/>
            </a:pPr>
            <a:r>
              <a:rPr lang="en-US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tecnologias</a:t>
            </a:r>
            <a:r>
              <a:rPr lang="en-US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Ethernet, </a:t>
            </a:r>
            <a:r>
              <a:rPr lang="en-US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WiFi</a:t>
            </a:r>
            <a:r>
              <a:rPr lang="en-US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e o </a:t>
            </a:r>
            <a:r>
              <a:rPr lang="en-US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controlo</a:t>
            </a:r>
            <a:r>
              <a:rPr lang="en-US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de </a:t>
            </a:r>
            <a:r>
              <a:rPr lang="en-US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acesso</a:t>
            </a:r>
            <a:r>
              <a:rPr lang="en-US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ao</a:t>
            </a:r>
            <a:r>
              <a:rPr lang="en-US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meio</a:t>
            </a:r>
            <a:endParaRPr lang="en-US" dirty="0">
              <a:solidFill>
                <a:schemeClr val="tx2"/>
              </a:solidFill>
              <a:latin typeface="Aptos" panose="020B0004020202020204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  <a:p>
            <a:pPr marL="1257117" lvl="1" indent="-342900">
              <a:lnSpc>
                <a:spcPct val="150000"/>
              </a:lnSpc>
              <a:buFont typeface="Arial" charset="0"/>
              <a:buChar char="•"/>
            </a:pPr>
            <a:r>
              <a:rPr lang="en-US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equipamentos</a:t>
            </a:r>
            <a:r>
              <a:rPr lang="en-US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da </a:t>
            </a:r>
            <a:r>
              <a:rPr lang="en-US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camada</a:t>
            </a:r>
            <a:r>
              <a:rPr lang="en-US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de </a:t>
            </a:r>
            <a:r>
              <a:rPr lang="en-US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controlo</a:t>
            </a:r>
            <a:r>
              <a:rPr lang="en-US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de </a:t>
            </a:r>
            <a:r>
              <a:rPr lang="en-US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acesso</a:t>
            </a:r>
            <a:r>
              <a:rPr lang="en-US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ao</a:t>
            </a:r>
            <a:r>
              <a:rPr lang="en-US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meio</a:t>
            </a:r>
            <a:endParaRPr lang="en-US" dirty="0">
              <a:solidFill>
                <a:schemeClr val="tx2"/>
              </a:solidFill>
              <a:latin typeface="Aptos" panose="020B0004020202020204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EA56AF7-A67E-3948-9E92-10DEF03A0CF4}"/>
              </a:ext>
            </a:extLst>
          </p:cNvPr>
          <p:cNvSpPr/>
          <p:nvPr/>
        </p:nvSpPr>
        <p:spPr>
          <a:xfrm>
            <a:off x="24174450" y="0"/>
            <a:ext cx="203200" cy="1371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E20399-3B35-CC41-8D2A-7024704CF5CD}"/>
              </a:ext>
            </a:extLst>
          </p:cNvPr>
          <p:cNvSpPr txBox="1"/>
          <p:nvPr/>
        </p:nvSpPr>
        <p:spPr>
          <a:xfrm>
            <a:off x="1309360" y="1428345"/>
            <a:ext cx="1745761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CONTEÚDOS PROGRAMÁTICOS</a:t>
            </a:r>
          </a:p>
        </p:txBody>
      </p:sp>
    </p:spTree>
    <p:extLst>
      <p:ext uri="{BB962C8B-B14F-4D97-AF65-F5344CB8AC3E}">
        <p14:creationId xmlns:p14="http://schemas.microsoft.com/office/powerpoint/2010/main" val="19888532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455800" y="3731095"/>
            <a:ext cx="21465299" cy="99844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u="sng" dirty="0"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3. </a:t>
            </a:r>
            <a:r>
              <a:rPr lang="en-US" b="1" u="sng" dirty="0" err="1"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Camada</a:t>
            </a:r>
            <a:r>
              <a:rPr lang="en-US" b="1" u="sng" dirty="0"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de rede:</a:t>
            </a:r>
          </a:p>
          <a:p>
            <a:pPr>
              <a:lnSpc>
                <a:spcPct val="150000"/>
              </a:lnSpc>
            </a:pPr>
            <a:endParaRPr lang="en-US" b="1" u="sng" dirty="0">
              <a:latin typeface="Aptos" panose="020B0004020202020204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  <a:p>
            <a:pPr marL="1257117" lvl="1" indent="-342900">
              <a:lnSpc>
                <a:spcPct val="150000"/>
              </a:lnSpc>
              <a:buFont typeface="Arial" charset="0"/>
              <a:buChar char="•"/>
            </a:pPr>
            <a:r>
              <a:rPr lang="en-US" dirty="0" err="1"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protocolo</a:t>
            </a:r>
            <a:r>
              <a:rPr lang="en-US" dirty="0"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IP e </a:t>
            </a:r>
            <a:r>
              <a:rPr lang="en-US" dirty="0" err="1"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endereçamento</a:t>
            </a:r>
            <a:r>
              <a:rPr lang="en-US" dirty="0"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IPv4</a:t>
            </a:r>
          </a:p>
          <a:p>
            <a:pPr marL="1257117" lvl="1" indent="-342900">
              <a:lnSpc>
                <a:spcPct val="150000"/>
              </a:lnSpc>
              <a:buFont typeface="Arial" charset="0"/>
              <a:buChar char="•"/>
            </a:pPr>
            <a:r>
              <a:rPr lang="en-US" dirty="0" err="1"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subdivisão</a:t>
            </a:r>
            <a:r>
              <a:rPr lang="en-US" dirty="0"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e </a:t>
            </a:r>
            <a:r>
              <a:rPr lang="en-US" dirty="0" err="1"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agregação</a:t>
            </a:r>
            <a:r>
              <a:rPr lang="en-US" dirty="0"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de </a:t>
            </a:r>
            <a:r>
              <a:rPr lang="en-US" dirty="0" err="1"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planos</a:t>
            </a:r>
            <a:r>
              <a:rPr lang="en-US" dirty="0"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de </a:t>
            </a:r>
            <a:r>
              <a:rPr lang="en-US" dirty="0" err="1"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endereçamento</a:t>
            </a:r>
            <a:endParaRPr lang="en-US" dirty="0">
              <a:latin typeface="Aptos" panose="020B0004020202020204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  <a:p>
            <a:pPr marL="1257117" lvl="1" indent="-342900">
              <a:lnSpc>
                <a:spcPct val="150000"/>
              </a:lnSpc>
              <a:buFont typeface="Arial" charset="0"/>
              <a:buChar char="•"/>
            </a:pPr>
            <a:r>
              <a:rPr lang="en-US" dirty="0" err="1"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protocolos</a:t>
            </a:r>
            <a:r>
              <a:rPr lang="en-US" dirty="0"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ARP e ICMP</a:t>
            </a:r>
          </a:p>
          <a:p>
            <a:pPr marL="1257117" lvl="1" indent="-342900">
              <a:lnSpc>
                <a:spcPct val="150000"/>
              </a:lnSpc>
              <a:buFont typeface="Arial" charset="0"/>
              <a:buChar char="•"/>
            </a:pPr>
            <a:r>
              <a:rPr lang="en-US" dirty="0" err="1"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configuração</a:t>
            </a:r>
            <a:r>
              <a:rPr lang="en-US" dirty="0"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</a:t>
            </a:r>
            <a:r>
              <a:rPr lang="en-US" dirty="0" err="1"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automática</a:t>
            </a:r>
            <a:r>
              <a:rPr lang="en-US" dirty="0"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de </a:t>
            </a:r>
            <a:r>
              <a:rPr lang="en-US" dirty="0" err="1"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elementos</a:t>
            </a:r>
            <a:r>
              <a:rPr lang="en-US" dirty="0"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de rede (DHCP)</a:t>
            </a:r>
          </a:p>
          <a:p>
            <a:pPr marL="342900" indent="-342900">
              <a:lnSpc>
                <a:spcPct val="150000"/>
              </a:lnSpc>
              <a:buFont typeface="Arial" charset="0"/>
              <a:buChar char="•"/>
            </a:pPr>
            <a:endParaRPr lang="en-US" dirty="0">
              <a:latin typeface="Aptos" panose="020B0004020202020204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  <a:p>
            <a:pPr>
              <a:lnSpc>
                <a:spcPct val="150000"/>
              </a:lnSpc>
            </a:pPr>
            <a:r>
              <a:rPr lang="en-US" b="1" u="sng" dirty="0"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4. </a:t>
            </a:r>
            <a:r>
              <a:rPr lang="en-US" b="1" u="sng" dirty="0" err="1"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Protocolos</a:t>
            </a:r>
            <a:r>
              <a:rPr lang="en-US" b="1" u="sng" dirty="0"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de </a:t>
            </a:r>
            <a:r>
              <a:rPr lang="en-US" b="1" u="sng" dirty="0" err="1"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encaminhamento</a:t>
            </a:r>
            <a:r>
              <a:rPr lang="en-US" b="1" u="sng" dirty="0"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:</a:t>
            </a:r>
          </a:p>
          <a:p>
            <a:pPr marL="342900" indent="-342900">
              <a:lnSpc>
                <a:spcPct val="150000"/>
              </a:lnSpc>
              <a:buFont typeface="Arial" charset="0"/>
              <a:buChar char="•"/>
            </a:pPr>
            <a:endParaRPr lang="en-US" dirty="0">
              <a:latin typeface="Aptos" panose="020B0004020202020204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  <a:p>
            <a:pPr marL="1257117" lvl="1" indent="-342900">
              <a:lnSpc>
                <a:spcPct val="150000"/>
              </a:lnSpc>
              <a:buFont typeface="Arial" charset="0"/>
              <a:buChar char="•"/>
            </a:pPr>
            <a:r>
              <a:rPr lang="en-US" dirty="0" err="1"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encaminhamento</a:t>
            </a:r>
            <a:r>
              <a:rPr lang="en-US" dirty="0"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</a:t>
            </a:r>
            <a:r>
              <a:rPr lang="en-US" dirty="0" err="1"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estático</a:t>
            </a:r>
            <a:r>
              <a:rPr lang="en-US" dirty="0"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e </a:t>
            </a:r>
            <a:r>
              <a:rPr lang="en-US" dirty="0" err="1"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dinâmico</a:t>
            </a:r>
            <a:endParaRPr lang="en-US" dirty="0">
              <a:latin typeface="Aptos" panose="020B0004020202020204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  <a:p>
            <a:pPr marL="1257117" lvl="1" indent="-342900">
              <a:lnSpc>
                <a:spcPct val="150000"/>
              </a:lnSpc>
              <a:buFont typeface="Arial" charset="0"/>
              <a:buChar char="•"/>
            </a:pPr>
            <a:r>
              <a:rPr lang="en-US" dirty="0" err="1"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encaminhamento</a:t>
            </a:r>
            <a:r>
              <a:rPr lang="en-US" dirty="0"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</a:t>
            </a:r>
            <a:r>
              <a:rPr lang="en-US" dirty="0" err="1"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por</a:t>
            </a:r>
            <a:r>
              <a:rPr lang="en-US" dirty="0"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</a:t>
            </a:r>
            <a:r>
              <a:rPr lang="en-US" dirty="0" err="1"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vetores</a:t>
            </a:r>
            <a:r>
              <a:rPr lang="en-US" dirty="0"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</a:t>
            </a:r>
            <a:r>
              <a:rPr lang="en-US" dirty="0" err="1"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distância</a:t>
            </a:r>
            <a:r>
              <a:rPr lang="en-US" dirty="0"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(RIP) e </a:t>
            </a:r>
            <a:r>
              <a:rPr lang="en-US" dirty="0" err="1"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por</a:t>
            </a:r>
            <a:r>
              <a:rPr lang="en-US" dirty="0"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link state (OSPF)</a:t>
            </a:r>
          </a:p>
          <a:p>
            <a:pPr marL="1257117" lvl="1" indent="-342900">
              <a:lnSpc>
                <a:spcPct val="150000"/>
              </a:lnSpc>
              <a:buFont typeface="Arial" charset="0"/>
              <a:buChar char="•"/>
            </a:pPr>
            <a:r>
              <a:rPr lang="en-US" dirty="0" err="1"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organização</a:t>
            </a:r>
            <a:r>
              <a:rPr lang="en-US" dirty="0"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e </a:t>
            </a:r>
            <a:r>
              <a:rPr lang="en-US" dirty="0" err="1"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encaminhamento</a:t>
            </a:r>
            <a:r>
              <a:rPr lang="en-US" dirty="0"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</a:t>
            </a:r>
            <a:r>
              <a:rPr lang="en-US" dirty="0" err="1"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na</a:t>
            </a:r>
            <a:r>
              <a:rPr lang="en-US" dirty="0"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Internet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EA56AF7-A67E-3948-9E92-10DEF03A0CF4}"/>
              </a:ext>
            </a:extLst>
          </p:cNvPr>
          <p:cNvSpPr/>
          <p:nvPr/>
        </p:nvSpPr>
        <p:spPr>
          <a:xfrm>
            <a:off x="24174450" y="0"/>
            <a:ext cx="203200" cy="1371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E20399-3B35-CC41-8D2A-7024704CF5CD}"/>
              </a:ext>
            </a:extLst>
          </p:cNvPr>
          <p:cNvSpPr txBox="1"/>
          <p:nvPr/>
        </p:nvSpPr>
        <p:spPr>
          <a:xfrm>
            <a:off x="1309360" y="1428345"/>
            <a:ext cx="1745761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CONTEÚDOS PROGRAMÁTICOS</a:t>
            </a:r>
          </a:p>
        </p:txBody>
      </p:sp>
    </p:spTree>
    <p:extLst>
      <p:ext uri="{BB962C8B-B14F-4D97-AF65-F5344CB8AC3E}">
        <p14:creationId xmlns:p14="http://schemas.microsoft.com/office/powerpoint/2010/main" val="39520771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309360" y="3320547"/>
            <a:ext cx="21465299" cy="99844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u="sng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5. </a:t>
            </a:r>
            <a:r>
              <a:rPr lang="en-US" b="1" u="sng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Camada</a:t>
            </a:r>
            <a:r>
              <a:rPr lang="en-US" b="1" u="sng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de </a:t>
            </a:r>
            <a:r>
              <a:rPr lang="en-US" b="1" u="sng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transporte</a:t>
            </a:r>
            <a:r>
              <a:rPr lang="en-US" b="1" u="sng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:</a:t>
            </a:r>
          </a:p>
          <a:p>
            <a:pPr>
              <a:lnSpc>
                <a:spcPct val="150000"/>
              </a:lnSpc>
            </a:pPr>
            <a:endParaRPr lang="en-US" b="1" u="sng" dirty="0">
              <a:solidFill>
                <a:schemeClr val="tx2"/>
              </a:solidFill>
              <a:latin typeface="Aptos" panose="020B0004020202020204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  <a:p>
            <a:pPr marL="1257117" lvl="1" indent="-342900">
              <a:lnSpc>
                <a:spcPct val="150000"/>
              </a:lnSpc>
              <a:buFont typeface="Arial" charset="0"/>
              <a:buChar char="•"/>
            </a:pPr>
            <a:r>
              <a:rPr lang="en-US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serviços</a:t>
            </a:r>
            <a:r>
              <a:rPr lang="en-US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da </a:t>
            </a:r>
            <a:r>
              <a:rPr lang="en-US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camada</a:t>
            </a:r>
            <a:r>
              <a:rPr lang="en-US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de </a:t>
            </a:r>
            <a:r>
              <a:rPr lang="en-US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transporte</a:t>
            </a:r>
            <a:endParaRPr lang="en-US" dirty="0">
              <a:solidFill>
                <a:schemeClr val="tx2"/>
              </a:solidFill>
              <a:latin typeface="Aptos" panose="020B0004020202020204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  <a:p>
            <a:pPr marL="1257117" lvl="1" indent="-342900">
              <a:lnSpc>
                <a:spcPct val="150000"/>
              </a:lnSpc>
              <a:buFont typeface="Arial" charset="0"/>
              <a:buChar char="•"/>
            </a:pPr>
            <a:r>
              <a:rPr lang="en-US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conceito</a:t>
            </a:r>
            <a:r>
              <a:rPr lang="en-US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de </a:t>
            </a:r>
            <a:r>
              <a:rPr lang="en-US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porto</a:t>
            </a:r>
            <a:r>
              <a:rPr lang="en-US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e </a:t>
            </a:r>
            <a:r>
              <a:rPr lang="en-US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importância</a:t>
            </a:r>
            <a:r>
              <a:rPr lang="en-US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para </a:t>
            </a:r>
            <a:r>
              <a:rPr lang="en-US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comunicação</a:t>
            </a:r>
            <a:r>
              <a:rPr lang="en-US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de </a:t>
            </a:r>
            <a:r>
              <a:rPr lang="en-US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aplicações</a:t>
            </a:r>
            <a:endParaRPr lang="en-US" dirty="0">
              <a:solidFill>
                <a:schemeClr val="tx2"/>
              </a:solidFill>
              <a:latin typeface="Aptos" panose="020B0004020202020204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  <a:p>
            <a:pPr marL="1257117" lvl="1" indent="-342900">
              <a:lnSpc>
                <a:spcPct val="150000"/>
              </a:lnSpc>
              <a:buFont typeface="Arial" charset="0"/>
              <a:buChar char="•"/>
            </a:pPr>
            <a:r>
              <a:rPr lang="en-US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arquitetura</a:t>
            </a:r>
            <a:r>
              <a:rPr lang="en-US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cliente</a:t>
            </a:r>
            <a:r>
              <a:rPr lang="en-US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servidor</a:t>
            </a:r>
            <a:r>
              <a:rPr lang="en-US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e </a:t>
            </a:r>
            <a:r>
              <a:rPr lang="en-US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portos</a:t>
            </a:r>
            <a:r>
              <a:rPr lang="en-US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conhecidos</a:t>
            </a:r>
            <a:endParaRPr lang="en-US" dirty="0">
              <a:solidFill>
                <a:schemeClr val="tx2"/>
              </a:solidFill>
              <a:latin typeface="Aptos" panose="020B0004020202020204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  <a:p>
            <a:pPr marL="1257117" lvl="1" indent="-342900">
              <a:lnSpc>
                <a:spcPct val="150000"/>
              </a:lnSpc>
              <a:buFont typeface="Arial" charset="0"/>
              <a:buChar char="•"/>
            </a:pPr>
            <a:r>
              <a:rPr lang="en-US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transporte</a:t>
            </a:r>
            <a:r>
              <a:rPr lang="en-US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com </a:t>
            </a:r>
            <a:r>
              <a:rPr lang="en-US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controlo</a:t>
            </a:r>
            <a:r>
              <a:rPr lang="en-US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(</a:t>
            </a:r>
            <a:r>
              <a:rPr lang="en-US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protocolo</a:t>
            </a:r>
            <a:r>
              <a:rPr lang="en-US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TCP) e </a:t>
            </a:r>
            <a:r>
              <a:rPr lang="en-US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sem</a:t>
            </a:r>
            <a:r>
              <a:rPr lang="en-US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controlo</a:t>
            </a:r>
            <a:r>
              <a:rPr lang="en-US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(</a:t>
            </a:r>
            <a:r>
              <a:rPr lang="en-US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protocolo</a:t>
            </a:r>
            <a:r>
              <a:rPr lang="en-US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UDP)</a:t>
            </a:r>
          </a:p>
          <a:p>
            <a:pPr marL="342900" indent="-342900">
              <a:lnSpc>
                <a:spcPct val="150000"/>
              </a:lnSpc>
              <a:buFont typeface="Arial" charset="0"/>
              <a:buChar char="•"/>
            </a:pPr>
            <a:endParaRPr lang="en-US" dirty="0">
              <a:solidFill>
                <a:schemeClr val="tx2"/>
              </a:solidFill>
              <a:latin typeface="Aptos" panose="020B0004020202020204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  <a:p>
            <a:pPr>
              <a:lnSpc>
                <a:spcPct val="150000"/>
              </a:lnSpc>
            </a:pPr>
            <a:r>
              <a:rPr lang="en-US" b="1" u="sng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6. </a:t>
            </a:r>
            <a:r>
              <a:rPr lang="en-US" b="1" u="sng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Tradução</a:t>
            </a:r>
            <a:r>
              <a:rPr lang="en-US" b="1" u="sng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de </a:t>
            </a:r>
            <a:r>
              <a:rPr lang="en-US" b="1" u="sng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endereços</a:t>
            </a:r>
            <a:r>
              <a:rPr lang="en-US" b="1" u="sng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de Rede</a:t>
            </a:r>
          </a:p>
          <a:p>
            <a:pPr>
              <a:lnSpc>
                <a:spcPct val="150000"/>
              </a:lnSpc>
            </a:pPr>
            <a:endParaRPr lang="en-US" b="1" u="sng" dirty="0">
              <a:solidFill>
                <a:schemeClr val="tx2"/>
              </a:solidFill>
              <a:latin typeface="Aptos" panose="020B0004020202020204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  <a:p>
            <a:pPr marL="1257117" lvl="1" indent="-342900">
              <a:lnSpc>
                <a:spcPct val="150000"/>
              </a:lnSpc>
              <a:buFont typeface="Arial" charset="0"/>
              <a:buChar char="•"/>
            </a:pPr>
            <a:r>
              <a:rPr lang="en-US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Redes </a:t>
            </a:r>
            <a:r>
              <a:rPr lang="en-US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privadas</a:t>
            </a:r>
            <a:r>
              <a:rPr lang="en-US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e Redes </a:t>
            </a:r>
            <a:r>
              <a:rPr lang="en-US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públicas</a:t>
            </a:r>
            <a:endParaRPr lang="en-US" dirty="0">
              <a:solidFill>
                <a:schemeClr val="tx2"/>
              </a:solidFill>
              <a:latin typeface="Aptos" panose="020B0004020202020204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  <a:p>
            <a:pPr marL="1257117" lvl="1" indent="-342900">
              <a:lnSpc>
                <a:spcPct val="150000"/>
              </a:lnSpc>
              <a:buFont typeface="Arial" charset="0"/>
              <a:buChar char="•"/>
            </a:pPr>
            <a:r>
              <a:rPr lang="en-US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tradução</a:t>
            </a:r>
            <a:r>
              <a:rPr lang="en-US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dos </a:t>
            </a:r>
            <a:r>
              <a:rPr lang="en-US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endereços</a:t>
            </a:r>
            <a:r>
              <a:rPr lang="en-US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de rede (NAT)</a:t>
            </a:r>
          </a:p>
          <a:p>
            <a:pPr marL="1257117" lvl="1" indent="-342900">
              <a:lnSpc>
                <a:spcPct val="150000"/>
              </a:lnSpc>
              <a:buFont typeface="Arial" charset="0"/>
              <a:buChar char="•"/>
            </a:pPr>
            <a:r>
              <a:rPr lang="en-US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tradução</a:t>
            </a:r>
            <a:r>
              <a:rPr lang="en-US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de </a:t>
            </a:r>
            <a:r>
              <a:rPr lang="en-US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endereços</a:t>
            </a:r>
            <a:r>
              <a:rPr lang="en-US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para </a:t>
            </a:r>
            <a:r>
              <a:rPr lang="en-US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direcionamento</a:t>
            </a:r>
            <a:r>
              <a:rPr lang="en-US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de </a:t>
            </a:r>
            <a:r>
              <a:rPr lang="en-US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serviços</a:t>
            </a:r>
            <a:r>
              <a:rPr lang="en-US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em</a:t>
            </a:r>
            <a:r>
              <a:rPr lang="en-US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redes </a:t>
            </a:r>
            <a:r>
              <a:rPr lang="en-US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privadas</a:t>
            </a:r>
            <a:endParaRPr lang="en-US" dirty="0">
              <a:solidFill>
                <a:schemeClr val="tx2"/>
              </a:solidFill>
              <a:latin typeface="Aptos" panose="020B0004020202020204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EA56AF7-A67E-3948-9E92-10DEF03A0CF4}"/>
              </a:ext>
            </a:extLst>
          </p:cNvPr>
          <p:cNvSpPr/>
          <p:nvPr/>
        </p:nvSpPr>
        <p:spPr>
          <a:xfrm>
            <a:off x="24174450" y="0"/>
            <a:ext cx="203200" cy="1371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E20399-3B35-CC41-8D2A-7024704CF5CD}"/>
              </a:ext>
            </a:extLst>
          </p:cNvPr>
          <p:cNvSpPr txBox="1"/>
          <p:nvPr/>
        </p:nvSpPr>
        <p:spPr>
          <a:xfrm>
            <a:off x="1309360" y="1428345"/>
            <a:ext cx="1745761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CONTEÚDOS PROGRAMÁTICOS</a:t>
            </a:r>
          </a:p>
        </p:txBody>
      </p:sp>
    </p:spTree>
    <p:extLst>
      <p:ext uri="{BB962C8B-B14F-4D97-AF65-F5344CB8AC3E}">
        <p14:creationId xmlns:p14="http://schemas.microsoft.com/office/powerpoint/2010/main" val="10906724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455800" y="3917705"/>
            <a:ext cx="21465299" cy="33364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u="sng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7. </a:t>
            </a:r>
            <a:r>
              <a:rPr lang="en-US" b="1" u="sng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Camada</a:t>
            </a:r>
            <a:r>
              <a:rPr lang="en-US" b="1" u="sng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de </a:t>
            </a:r>
            <a:r>
              <a:rPr lang="en-US" b="1" u="sng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aplicação</a:t>
            </a:r>
            <a:r>
              <a:rPr lang="en-US" b="1" u="sng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:</a:t>
            </a:r>
          </a:p>
          <a:p>
            <a:pPr marL="342900" indent="-342900">
              <a:lnSpc>
                <a:spcPct val="150000"/>
              </a:lnSpc>
              <a:buFont typeface="Arial" charset="0"/>
              <a:buChar char="•"/>
            </a:pPr>
            <a:endParaRPr lang="en-US" dirty="0">
              <a:solidFill>
                <a:schemeClr val="tx2"/>
              </a:solidFill>
              <a:latin typeface="Aptos" panose="020B0004020202020204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  <a:p>
            <a:pPr marL="1257117" lvl="1" indent="-342900">
              <a:lnSpc>
                <a:spcPct val="150000"/>
              </a:lnSpc>
              <a:buFont typeface="Arial" charset="0"/>
              <a:buChar char="•"/>
            </a:pPr>
            <a:r>
              <a:rPr lang="en-US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comunicação</a:t>
            </a:r>
            <a:r>
              <a:rPr lang="en-US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entre </a:t>
            </a:r>
            <a:r>
              <a:rPr lang="en-US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aplicações</a:t>
            </a:r>
            <a:r>
              <a:rPr lang="en-US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através</a:t>
            </a:r>
            <a:r>
              <a:rPr lang="en-US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de sockets</a:t>
            </a:r>
          </a:p>
          <a:p>
            <a:pPr marL="1257117" lvl="1" indent="-342900">
              <a:lnSpc>
                <a:spcPct val="150000"/>
              </a:lnSpc>
              <a:buFont typeface="Arial" charset="0"/>
              <a:buChar char="•"/>
            </a:pPr>
            <a:r>
              <a:rPr lang="en-US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Mensagens</a:t>
            </a:r>
            <a:r>
              <a:rPr lang="en-US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protocoladas</a:t>
            </a:r>
            <a:r>
              <a:rPr lang="en-US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da </a:t>
            </a:r>
            <a:r>
              <a:rPr lang="en-US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aplicação</a:t>
            </a:r>
            <a:r>
              <a:rPr lang="en-US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: TFTP, FTP e HTTP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EA56AF7-A67E-3948-9E92-10DEF03A0CF4}"/>
              </a:ext>
            </a:extLst>
          </p:cNvPr>
          <p:cNvSpPr/>
          <p:nvPr/>
        </p:nvSpPr>
        <p:spPr>
          <a:xfrm>
            <a:off x="24174450" y="0"/>
            <a:ext cx="203200" cy="1371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E20399-3B35-CC41-8D2A-7024704CF5CD}"/>
              </a:ext>
            </a:extLst>
          </p:cNvPr>
          <p:cNvSpPr txBox="1"/>
          <p:nvPr/>
        </p:nvSpPr>
        <p:spPr>
          <a:xfrm>
            <a:off x="1309360" y="1428345"/>
            <a:ext cx="1745761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CONTEÚDOS PROGRAMÁTICOS</a:t>
            </a:r>
          </a:p>
        </p:txBody>
      </p:sp>
    </p:spTree>
    <p:extLst>
      <p:ext uri="{BB962C8B-B14F-4D97-AF65-F5344CB8AC3E}">
        <p14:creationId xmlns:p14="http://schemas.microsoft.com/office/powerpoint/2010/main" val="27455223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24377650" cy="1371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8CC762E-4926-7940-8459-13FF36A00A07}"/>
              </a:ext>
            </a:extLst>
          </p:cNvPr>
          <p:cNvGrpSpPr/>
          <p:nvPr/>
        </p:nvGrpSpPr>
        <p:grpSpPr>
          <a:xfrm>
            <a:off x="6809875" y="4032884"/>
            <a:ext cx="10996862" cy="4111348"/>
            <a:chOff x="6809875" y="3562260"/>
            <a:chExt cx="10996862" cy="4111348"/>
          </a:xfrm>
        </p:grpSpPr>
        <p:sp>
          <p:nvSpPr>
            <p:cNvPr id="21" name="TextBox 20"/>
            <p:cNvSpPr txBox="1"/>
            <p:nvPr/>
          </p:nvSpPr>
          <p:spPr>
            <a:xfrm>
              <a:off x="6809875" y="6042392"/>
              <a:ext cx="10996862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0" dirty="0">
                  <a:solidFill>
                    <a:schemeClr val="bg1"/>
                  </a:solidFill>
                  <a:latin typeface="Aptos" panose="020B0004020202020204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AVALIAÇÃO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3C67E9D-A339-7C4C-A347-C3810F510587}"/>
                </a:ext>
              </a:extLst>
            </p:cNvPr>
            <p:cNvSpPr/>
            <p:nvPr/>
          </p:nvSpPr>
          <p:spPr>
            <a:xfrm>
              <a:off x="10460609" y="5567635"/>
              <a:ext cx="3456432" cy="10059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5C59259-AB4D-8A44-80E3-F97CB937994D}"/>
                </a:ext>
              </a:extLst>
            </p:cNvPr>
            <p:cNvSpPr txBox="1"/>
            <p:nvPr/>
          </p:nvSpPr>
          <p:spPr>
            <a:xfrm>
              <a:off x="11449048" y="3562260"/>
              <a:ext cx="1479552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0" dirty="0">
                  <a:solidFill>
                    <a:schemeClr val="bg1"/>
                  </a:solidFill>
                  <a:latin typeface="Aptos" panose="020B0004020202020204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589490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455800" y="3917705"/>
            <a:ext cx="21465299" cy="74914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u="sng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Avaliação</a:t>
            </a:r>
            <a:r>
              <a:rPr lang="en-US" b="1" u="sng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</a:t>
            </a:r>
            <a:r>
              <a:rPr lang="en-US" b="1" u="sng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por</a:t>
            </a:r>
            <a:r>
              <a:rPr lang="en-US" b="1" u="sng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</a:t>
            </a:r>
            <a:r>
              <a:rPr lang="en-US" b="1" u="sng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frequência</a:t>
            </a:r>
            <a:r>
              <a:rPr lang="en-US" b="1" u="sng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:</a:t>
            </a:r>
          </a:p>
          <a:p>
            <a:pPr marL="342900" indent="-342900">
              <a:lnSpc>
                <a:spcPct val="150000"/>
              </a:lnSpc>
              <a:buFont typeface="Arial" charset="0"/>
              <a:buChar char="•"/>
            </a:pPr>
            <a:endParaRPr lang="en-US" dirty="0">
              <a:solidFill>
                <a:schemeClr val="tx2"/>
              </a:solidFill>
              <a:latin typeface="Aptos" panose="020B0004020202020204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  <a:p>
            <a:pPr marL="1257117" lvl="1" indent="-342900">
              <a:lnSpc>
                <a:spcPct val="150000"/>
              </a:lnSpc>
              <a:buFont typeface="Arial" charset="0"/>
              <a:buChar char="•"/>
            </a:pPr>
            <a:r>
              <a:rPr lang="en-US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Exercícios</a:t>
            </a:r>
            <a:r>
              <a:rPr lang="en-US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laboratoriais</a:t>
            </a:r>
            <a:r>
              <a:rPr lang="en-US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(20%)</a:t>
            </a:r>
          </a:p>
          <a:p>
            <a:pPr marL="1257117" lvl="1" indent="-342900">
              <a:lnSpc>
                <a:spcPct val="150000"/>
              </a:lnSpc>
              <a:buFont typeface="Arial" charset="0"/>
              <a:buChar char="•"/>
            </a:pPr>
            <a:r>
              <a:rPr lang="en-US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Miniprojeto</a:t>
            </a:r>
            <a:r>
              <a:rPr lang="en-US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, </a:t>
            </a:r>
            <a:r>
              <a:rPr lang="en-US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Apresentação</a:t>
            </a:r>
            <a:r>
              <a:rPr lang="en-US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e </a:t>
            </a:r>
            <a:r>
              <a:rPr lang="en-US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defesa</a:t>
            </a:r>
            <a:r>
              <a:rPr lang="en-US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(40%)</a:t>
            </a:r>
          </a:p>
          <a:p>
            <a:pPr marL="1257117" lvl="1" indent="-342900">
              <a:lnSpc>
                <a:spcPct val="150000"/>
              </a:lnSpc>
              <a:buFont typeface="Arial" charset="0"/>
              <a:buChar char="•"/>
            </a:pPr>
            <a:r>
              <a:rPr lang="en-US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Prova</a:t>
            </a:r>
            <a:r>
              <a:rPr lang="en-US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Escrita</a:t>
            </a:r>
            <a:r>
              <a:rPr lang="en-US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(40%)</a:t>
            </a:r>
          </a:p>
          <a:p>
            <a:pPr marL="342900" indent="-342900">
              <a:lnSpc>
                <a:spcPct val="150000"/>
              </a:lnSpc>
              <a:buFont typeface="Arial" charset="0"/>
              <a:buChar char="•"/>
            </a:pPr>
            <a:endParaRPr lang="en-US" dirty="0">
              <a:solidFill>
                <a:schemeClr val="tx2"/>
              </a:solidFill>
              <a:latin typeface="Aptos" panose="020B0004020202020204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  <a:p>
            <a:pPr>
              <a:lnSpc>
                <a:spcPct val="150000"/>
              </a:lnSpc>
            </a:pPr>
            <a:r>
              <a:rPr lang="en-US" b="1" u="sng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Avaliação</a:t>
            </a:r>
            <a:r>
              <a:rPr lang="en-US" b="1" u="sng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</a:t>
            </a:r>
            <a:r>
              <a:rPr lang="en-US" b="1" u="sng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por</a:t>
            </a:r>
            <a:r>
              <a:rPr lang="en-US" b="1" u="sng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</a:t>
            </a:r>
            <a:r>
              <a:rPr lang="en-US" b="1" u="sng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exame</a:t>
            </a:r>
            <a:r>
              <a:rPr lang="en-US" b="1" u="sng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(normal </a:t>
            </a:r>
            <a:r>
              <a:rPr lang="en-US" b="1" u="sng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ou</a:t>
            </a:r>
            <a:r>
              <a:rPr lang="en-US" b="1" u="sng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</a:t>
            </a:r>
            <a:r>
              <a:rPr lang="en-US" b="1" u="sng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recurso</a:t>
            </a:r>
            <a:r>
              <a:rPr lang="en-US" b="1" u="sng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):</a:t>
            </a:r>
          </a:p>
          <a:p>
            <a:pPr marL="342900" indent="-342900">
              <a:lnSpc>
                <a:spcPct val="150000"/>
              </a:lnSpc>
              <a:buFont typeface="Arial" charset="0"/>
              <a:buChar char="•"/>
            </a:pPr>
            <a:endParaRPr lang="en-US" dirty="0">
              <a:solidFill>
                <a:schemeClr val="tx2"/>
              </a:solidFill>
              <a:latin typeface="Aptos" panose="020B0004020202020204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  <a:p>
            <a:pPr marL="1257117" lvl="1" indent="-342900">
              <a:lnSpc>
                <a:spcPct val="150000"/>
              </a:lnSpc>
              <a:buFont typeface="Arial" charset="0"/>
              <a:buChar char="•"/>
            </a:pPr>
            <a:r>
              <a:rPr lang="en-US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Prova</a:t>
            </a:r>
            <a:r>
              <a:rPr lang="en-US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escrita</a:t>
            </a:r>
            <a:r>
              <a:rPr lang="en-US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e de </a:t>
            </a:r>
            <a:r>
              <a:rPr lang="en-US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prática</a:t>
            </a:r>
            <a:r>
              <a:rPr lang="en-US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laboratorial (100%)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EA56AF7-A67E-3948-9E92-10DEF03A0CF4}"/>
              </a:ext>
            </a:extLst>
          </p:cNvPr>
          <p:cNvSpPr/>
          <p:nvPr/>
        </p:nvSpPr>
        <p:spPr>
          <a:xfrm>
            <a:off x="24174450" y="0"/>
            <a:ext cx="203200" cy="1371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E20399-3B35-CC41-8D2A-7024704CF5CD}"/>
              </a:ext>
            </a:extLst>
          </p:cNvPr>
          <p:cNvSpPr txBox="1"/>
          <p:nvPr/>
        </p:nvSpPr>
        <p:spPr>
          <a:xfrm>
            <a:off x="1309360" y="1428345"/>
            <a:ext cx="1745761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AVALIAÇÃO</a:t>
            </a:r>
          </a:p>
        </p:txBody>
      </p:sp>
    </p:spTree>
    <p:extLst>
      <p:ext uri="{BB962C8B-B14F-4D97-AF65-F5344CB8AC3E}">
        <p14:creationId xmlns:p14="http://schemas.microsoft.com/office/powerpoint/2010/main" val="19298119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24377650" cy="1371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8CC762E-4926-7940-8459-13FF36A00A07}"/>
              </a:ext>
            </a:extLst>
          </p:cNvPr>
          <p:cNvGrpSpPr/>
          <p:nvPr/>
        </p:nvGrpSpPr>
        <p:grpSpPr>
          <a:xfrm>
            <a:off x="6809875" y="4032884"/>
            <a:ext cx="10996862" cy="5650231"/>
            <a:chOff x="6809875" y="3562260"/>
            <a:chExt cx="10996862" cy="5650231"/>
          </a:xfrm>
        </p:grpSpPr>
        <p:sp>
          <p:nvSpPr>
            <p:cNvPr id="21" name="TextBox 20"/>
            <p:cNvSpPr txBox="1"/>
            <p:nvPr/>
          </p:nvSpPr>
          <p:spPr>
            <a:xfrm>
              <a:off x="6809875" y="6042392"/>
              <a:ext cx="10996862" cy="31700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0" dirty="0">
                  <a:solidFill>
                    <a:schemeClr val="bg1"/>
                  </a:solidFill>
                  <a:latin typeface="Aptos" panose="020B0004020202020204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BIBLIOGRAFIA RECOMENDADA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3C67E9D-A339-7C4C-A347-C3810F510587}"/>
                </a:ext>
              </a:extLst>
            </p:cNvPr>
            <p:cNvSpPr/>
            <p:nvPr/>
          </p:nvSpPr>
          <p:spPr>
            <a:xfrm>
              <a:off x="10460609" y="5567635"/>
              <a:ext cx="3456432" cy="10059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5C59259-AB4D-8A44-80E3-F97CB937994D}"/>
                </a:ext>
              </a:extLst>
            </p:cNvPr>
            <p:cNvSpPr txBox="1"/>
            <p:nvPr/>
          </p:nvSpPr>
          <p:spPr>
            <a:xfrm>
              <a:off x="11449048" y="3562260"/>
              <a:ext cx="1479552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0" dirty="0">
                  <a:solidFill>
                    <a:schemeClr val="bg1"/>
                  </a:solidFill>
                  <a:latin typeface="Aptos" panose="020B0004020202020204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8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811204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455800" y="3917705"/>
            <a:ext cx="21465299" cy="89562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u="sng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Livros</a:t>
            </a:r>
            <a:endParaRPr lang="en-US" b="1" u="sng" dirty="0">
              <a:solidFill>
                <a:schemeClr val="tx2"/>
              </a:solidFill>
              <a:latin typeface="Aptos" panose="020B0004020202020204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  <a:p>
            <a:endParaRPr lang="en-US" b="1" u="sng" dirty="0">
              <a:solidFill>
                <a:schemeClr val="tx2"/>
              </a:solidFill>
              <a:latin typeface="Aptos" panose="020B0004020202020204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  <a:p>
            <a:pPr marL="1257117" lvl="1" indent="-342900">
              <a:buFont typeface="Arial" charset="0"/>
              <a:buChar char="•"/>
            </a:pPr>
            <a:r>
              <a:rPr lang="en-US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BOAVIDA, Fernando; BERNARDES, Mário. TCP/IP–Teoria e </a:t>
            </a:r>
            <a:r>
              <a:rPr lang="en-US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Prática</a:t>
            </a:r>
            <a:r>
              <a:rPr lang="en-US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. </a:t>
            </a:r>
            <a:r>
              <a:rPr lang="en-US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Lisboa</a:t>
            </a:r>
            <a:r>
              <a:rPr lang="en-US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: FCA-</a:t>
            </a:r>
            <a:r>
              <a:rPr lang="en-US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Editora</a:t>
            </a:r>
            <a:r>
              <a:rPr lang="en-US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de </a:t>
            </a:r>
            <a:r>
              <a:rPr lang="en-US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Informática</a:t>
            </a:r>
            <a:r>
              <a:rPr lang="en-US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, 2012.</a:t>
            </a:r>
          </a:p>
          <a:p>
            <a:pPr marL="1257117" lvl="1" indent="-342900">
              <a:buFont typeface="Arial" charset="0"/>
              <a:buChar char="•"/>
            </a:pPr>
            <a:r>
              <a:rPr lang="en-US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KUROSE, James F.; ROSS, Keith W. Computer networking: A top-down approach. </a:t>
            </a:r>
            <a:r>
              <a:rPr lang="en-US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Addision</a:t>
            </a:r>
            <a:r>
              <a:rPr lang="en-US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Wesley, 2009.</a:t>
            </a:r>
          </a:p>
          <a:p>
            <a:pPr marL="1257117" lvl="1" indent="-342900">
              <a:buFont typeface="Arial" charset="0"/>
              <a:buChar char="•"/>
            </a:pPr>
            <a:r>
              <a:rPr lang="en-US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CARLSON, A. B.,; CRILLY, P. B. Communication systems (5th ed). McGraw-Hill Higher Education, 2010.</a:t>
            </a:r>
          </a:p>
          <a:p>
            <a:pPr marL="1257117" lvl="1" indent="-342900">
              <a:buFont typeface="Arial" charset="0"/>
              <a:buChar char="•"/>
            </a:pPr>
            <a:r>
              <a:rPr lang="en-US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STALLINGS, William. Data and computer communications. Pearson Education India, 2007.</a:t>
            </a:r>
          </a:p>
          <a:p>
            <a:pPr marL="1257117" lvl="1" indent="-342900">
              <a:buFont typeface="Arial" charset="0"/>
              <a:buChar char="•"/>
            </a:pPr>
            <a:r>
              <a:rPr lang="en-US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BOAVIDA, Fernando; MONTEIRO, Edmundo. </a:t>
            </a:r>
            <a:r>
              <a:rPr lang="en-US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Engenharia</a:t>
            </a:r>
            <a:r>
              <a:rPr lang="en-US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de redes </a:t>
            </a:r>
            <a:r>
              <a:rPr lang="en-US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informáticas</a:t>
            </a:r>
            <a:r>
              <a:rPr lang="en-US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. Lisbon: FCA-</a:t>
            </a:r>
            <a:r>
              <a:rPr lang="en-US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Editora</a:t>
            </a:r>
            <a:r>
              <a:rPr lang="en-US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de </a:t>
            </a:r>
            <a:r>
              <a:rPr lang="en-US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Informática</a:t>
            </a:r>
            <a:r>
              <a:rPr lang="en-US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Lda</a:t>
            </a:r>
            <a:r>
              <a:rPr lang="en-US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, 2011.</a:t>
            </a:r>
          </a:p>
          <a:p>
            <a:pPr marL="1257117" lvl="1" indent="-342900">
              <a:buFont typeface="Arial" charset="0"/>
              <a:buChar char="•"/>
            </a:pPr>
            <a:r>
              <a:rPr lang="en-US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MARQUES, José Alves, et al. </a:t>
            </a:r>
            <a:r>
              <a:rPr lang="en-US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Sistemas</a:t>
            </a:r>
            <a:r>
              <a:rPr lang="en-US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Operativos</a:t>
            </a:r>
            <a:r>
              <a:rPr lang="en-US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. FCA, LIDEL, March, 2009.</a:t>
            </a:r>
          </a:p>
          <a:p>
            <a:pPr marL="1257117" lvl="1" indent="-342900">
              <a:buFont typeface="Arial" charset="0"/>
              <a:buChar char="•"/>
            </a:pPr>
            <a:r>
              <a:rPr lang="en-US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MARQUES, José Alves; GUEDES, Paulo. </a:t>
            </a:r>
            <a:r>
              <a:rPr lang="en-US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Tecnologia</a:t>
            </a:r>
            <a:r>
              <a:rPr lang="en-US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de </a:t>
            </a:r>
            <a:r>
              <a:rPr lang="en-US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sistemas</a:t>
            </a:r>
            <a:r>
              <a:rPr lang="en-US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distribuídos</a:t>
            </a:r>
            <a:r>
              <a:rPr lang="en-US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. 1998.</a:t>
            </a:r>
          </a:p>
          <a:p>
            <a:pPr marL="342900" indent="-342900">
              <a:buFont typeface="Arial" charset="0"/>
              <a:buChar char="•"/>
            </a:pPr>
            <a:endParaRPr lang="en-US" dirty="0">
              <a:solidFill>
                <a:schemeClr val="tx2"/>
              </a:solidFill>
              <a:latin typeface="Aptos" panose="020B0004020202020204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  <a:p>
            <a:r>
              <a:rPr lang="en-US" b="1" u="sng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Outros</a:t>
            </a:r>
          </a:p>
          <a:p>
            <a:pPr marL="1371417" lvl="1" indent="-45720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Diapositivos</a:t>
            </a:r>
            <a:r>
              <a:rPr lang="en-US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das aulas</a:t>
            </a:r>
          </a:p>
          <a:p>
            <a:pPr marL="1371417" lvl="1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Outro material online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EA56AF7-A67E-3948-9E92-10DEF03A0CF4}"/>
              </a:ext>
            </a:extLst>
          </p:cNvPr>
          <p:cNvSpPr/>
          <p:nvPr/>
        </p:nvSpPr>
        <p:spPr>
          <a:xfrm>
            <a:off x="24174450" y="0"/>
            <a:ext cx="203200" cy="1371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E20399-3B35-CC41-8D2A-7024704CF5CD}"/>
              </a:ext>
            </a:extLst>
          </p:cNvPr>
          <p:cNvSpPr txBox="1"/>
          <p:nvPr/>
        </p:nvSpPr>
        <p:spPr>
          <a:xfrm>
            <a:off x="1309360" y="1428345"/>
            <a:ext cx="1745761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chemeClr val="tx2"/>
                </a:solidFill>
                <a:latin typeface="Aptos" panose="020B0004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BILIOGRAFIA RECOMENDADA</a:t>
            </a:r>
          </a:p>
        </p:txBody>
      </p:sp>
    </p:spTree>
    <p:extLst>
      <p:ext uri="{BB962C8B-B14F-4D97-AF65-F5344CB8AC3E}">
        <p14:creationId xmlns:p14="http://schemas.microsoft.com/office/powerpoint/2010/main" val="19373733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36">
      <a:dk1>
        <a:srgbClr val="7F7F7F"/>
      </a:dk1>
      <a:lt1>
        <a:srgbClr val="FFFFFF"/>
      </a:lt1>
      <a:dk2>
        <a:srgbClr val="17406D"/>
      </a:dk2>
      <a:lt2>
        <a:srgbClr val="FDFBFF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37852</TotalTime>
  <Words>811</Words>
  <Application>Microsoft Office PowerPoint</Application>
  <PresentationFormat>Custom</PresentationFormat>
  <Paragraphs>146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Aptos</vt:lpstr>
      <vt:lpstr>Aptos Black</vt:lpstr>
      <vt:lpstr>Arial</vt:lpstr>
      <vt:lpstr>Calibri</vt:lpstr>
      <vt:lpstr>Lato Regular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Creative Presentations</dc:title>
  <dc:subject/>
  <dc:creator/>
  <cp:keywords/>
  <dc:description/>
  <cp:lastModifiedBy>António Godinho</cp:lastModifiedBy>
  <cp:revision>8532</cp:revision>
  <dcterms:created xsi:type="dcterms:W3CDTF">2014-11-12T21:47:38Z</dcterms:created>
  <dcterms:modified xsi:type="dcterms:W3CDTF">2025-09-21T06:06:06Z</dcterms:modified>
  <cp:category/>
</cp:coreProperties>
</file>